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ELPI overview: survey design facts on top; eight variable domains with instruments and wave coverage. All coverage claims verified against the microdata and codebooks in the TALIS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Verbatim questions, child side: evaluator-administered tests (TVIP, Hearts &amp; Flowers, digit span), the 2024 self-completed adolescent module (PHQ-2 d4_1, GAD-2 d4_3, ACEs aces_2/aces_10, tobacco g11, alcohol g12_frec, cyberbullying g2_3, GPA e3_asiste), and 2017 child self-reports (d13, b17).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Verbatim questions, caregiver side: separation timing (m1/p1), pregnancy retrospectives (b8, b36), mental-health scales (CES-D, PSCS, EPDS incl. suicidal-thoughts flag, PSI), discipline reported (pc4, pc5) and HOME observed (h11), the 2012 earthquake module (h3, h4, h5), income (y1) and Chile Crece Contigo (f27/f29).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Bars to scale. Blue = original 2010 cohort (15,175 -&gt; 12,898 -&gt; 10,230 -&gt; 10,003; 85.0% / 79.3% / 97.8% between-wave retention; 34.1% cumulative attrition). Gray = refresh samples (2012: +3,135; 2017: +2,142 re-interviewed + 4,935 new), not followed in 2024.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Specification slide typeset in LaTeX (Beamer, Computer Modern) and embedded as a full-bleed image; source gillmore_spec.tex in the repo. Eq. (2.1) verbatim from the dissertation chapter; identification incl. lower-bound argument; validity checks.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Version 4 filas: original (2006-09, unica seguida a 2024), refresco-2012 tratado (nacidos 2010), refresco-2012 control (nacidos 2011), refresco-2017 control (2012-15). Ola 2010 = solo linea base. Anillo=entrada; punto=test usado; X=no re-entrevistado 2024.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11274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ELPI: Chile’s national child cohort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11274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Encuesta Longitudinal de Primera Infancia — a birth-cohort panel following the same children from infancy to adolescence: caregiver interviews plus standardized child assessments administered in the home. Public microdata and codebooks (Ministry of Social Development).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426464"/>
            <a:ext cx="2619756" cy="896112"/>
          </a:xfrm>
          <a:prstGeom prst="roundRect">
            <a:avLst>
              <a:gd name="adj" fmla="val 6122"/>
            </a:avLst>
          </a:prstGeom>
          <a:solidFill>
            <a:srgbClr val="EDF3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85216" y="1472184"/>
            <a:ext cx="2363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15,175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85216" y="1828800"/>
            <a:ext cx="2363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children enrolled in 2010; representative of the 2006–09 birth cohorts</a:t>
            </a:r>
            <a:endParaRPr lang="en-US" sz="860" dirty="0"/>
          </a:p>
        </p:txBody>
      </p:sp>
      <p:sp>
        <p:nvSpPr>
          <p:cNvPr id="7" name="Shape 5"/>
          <p:cNvSpPr/>
          <p:nvPr/>
        </p:nvSpPr>
        <p:spPr>
          <a:xfrm>
            <a:off x="3342132" y="1426464"/>
            <a:ext cx="2619756" cy="896112"/>
          </a:xfrm>
          <a:prstGeom prst="roundRect">
            <a:avLst>
              <a:gd name="adj" fmla="val 6122"/>
            </a:avLst>
          </a:prstGeom>
          <a:solidFill>
            <a:srgbClr val="EDF3F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70148" y="1472184"/>
            <a:ext cx="2363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waves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3470148" y="1828800"/>
            <a:ext cx="2363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2010 · 2012 · 2017 · 2024, plus refresh samples in 2012 and 2017</a:t>
            </a:r>
            <a:endParaRPr lang="en-US" sz="860" dirty="0"/>
          </a:p>
        </p:txBody>
      </p:sp>
      <p:sp>
        <p:nvSpPr>
          <p:cNvPr id="10" name="Shape 8"/>
          <p:cNvSpPr/>
          <p:nvPr/>
        </p:nvSpPr>
        <p:spPr>
          <a:xfrm>
            <a:off x="6227064" y="1426464"/>
            <a:ext cx="2619756" cy="896112"/>
          </a:xfrm>
          <a:prstGeom prst="roundRect">
            <a:avLst>
              <a:gd name="adj" fmla="val 6122"/>
            </a:avLst>
          </a:prstGeom>
          <a:solidFill>
            <a:srgbClr val="EDF3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55080" y="1472184"/>
            <a:ext cx="2363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0–4 → 14–18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1828800"/>
            <a:ext cx="2363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ages covered — the same children from cradle to adolescence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9111996" y="1426464"/>
            <a:ext cx="2619756" cy="896112"/>
          </a:xfrm>
          <a:prstGeom prst="roundRect">
            <a:avLst>
              <a:gd name="adj" fmla="val 6122"/>
            </a:avLst>
          </a:prstGeom>
          <a:solidFill>
            <a:srgbClr val="EDF3F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40012" y="1472184"/>
            <a:ext cx="2363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folio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9240012" y="1828800"/>
            <a:ext cx="2363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child-level ID links every wave; comuna strata &amp; longitudinal weights</a:t>
            </a:r>
            <a:endParaRPr lang="en-US" sz="86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46888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MEASURES — EVERY DOMAIN OF THE CHILD’S LIFE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761488"/>
            <a:ext cx="2619756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12700" dir="5400000">
              <a:srgbClr val="D9D8D2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85216" y="2880360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2967228"/>
            <a:ext cx="192024" cy="19202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42416" y="2880360"/>
            <a:ext cx="1924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Cognitive skills</a:t>
            </a:r>
            <a:endParaRPr lang="en-US" sz="1160" dirty="0"/>
          </a:p>
        </p:txBody>
      </p:sp>
      <p:sp>
        <p:nvSpPr>
          <p:cNvPr id="21" name="Text 18"/>
          <p:cNvSpPr txBox="1"/>
          <p:nvPr/>
        </p:nvSpPr>
        <p:spPr>
          <a:xfrm>
            <a:off x="603504" y="3328416"/>
            <a:ext cx="23271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2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TVIP/Peabody vocabulary in all 4 waves · EEDP &amp; TADI infant development · Battelle screening · Woodcock-Muñoz · digit span &amp; Hearts-and-Flowers (executive function)</a:t>
            </a:r>
            <a:endParaRPr lang="en-US" sz="920" dirty="0"/>
          </a:p>
        </p:txBody>
      </p:sp>
      <p:sp>
        <p:nvSpPr>
          <p:cNvPr id="22" name="Shape 19"/>
          <p:cNvSpPr/>
          <p:nvPr/>
        </p:nvSpPr>
        <p:spPr>
          <a:xfrm>
            <a:off x="3342132" y="2761488"/>
            <a:ext cx="2619756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12700" dir="5400000">
              <a:srgbClr val="D9D8D2">
                <a:alpha val="35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3470148" y="2880360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7016" y="2967228"/>
            <a:ext cx="192024" cy="192024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3927348" y="2880360"/>
            <a:ext cx="1924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Non-cognitive skills</a:t>
            </a:r>
            <a:endParaRPr lang="en-US" sz="1160" dirty="0"/>
          </a:p>
        </p:txBody>
      </p:sp>
      <p:sp>
        <p:nvSpPr>
          <p:cNvPr id="26" name="Text 22"/>
          <p:cNvSpPr txBox="1"/>
          <p:nvPr/>
        </p:nvSpPr>
        <p:spPr>
          <a:xfrm>
            <a:off x="3488436" y="3328416"/>
            <a:ext cx="23271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2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CBCL socio-emotional problem-behavior scales in every wave (internalizing &amp; externalizing syndromes) · ASQ:SE screening (2010–17)</a:t>
            </a:r>
            <a:endParaRPr lang="en-US" sz="920" dirty="0"/>
          </a:p>
        </p:txBody>
      </p:sp>
      <p:sp>
        <p:nvSpPr>
          <p:cNvPr id="27" name="Shape 23"/>
          <p:cNvSpPr/>
          <p:nvPr/>
        </p:nvSpPr>
        <p:spPr>
          <a:xfrm>
            <a:off x="6227064" y="2761488"/>
            <a:ext cx="2619756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12700" dir="5400000">
              <a:srgbClr val="D9D8D2">
                <a:alpha val="35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355080" y="2880360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1948" y="2967228"/>
            <a:ext cx="192024" cy="192024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6812280" y="2880360"/>
            <a:ext cx="1924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Mental health &amp; risk (14–18)</a:t>
            </a:r>
            <a:endParaRPr lang="en-US" sz="1160" dirty="0"/>
          </a:p>
        </p:txBody>
      </p:sp>
      <p:sp>
        <p:nvSpPr>
          <p:cNvPr id="31" name="Text 26"/>
          <p:cNvSpPr txBox="1"/>
          <p:nvPr/>
        </p:nvSpPr>
        <p:spPr>
          <a:xfrm>
            <a:off x="6373368" y="3328416"/>
            <a:ext cx="23271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2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PHQ-2 depression &amp; GAD-2 anxiety screens · 10-item ACEs battery · smoking, alcohol &amp; drug use · self-reported GPA (2024)</a:t>
            </a:r>
            <a:endParaRPr lang="en-US" sz="920" dirty="0"/>
          </a:p>
        </p:txBody>
      </p:sp>
      <p:sp>
        <p:nvSpPr>
          <p:cNvPr id="32" name="Shape 27"/>
          <p:cNvSpPr/>
          <p:nvPr/>
        </p:nvSpPr>
        <p:spPr>
          <a:xfrm>
            <a:off x="9111996" y="2761488"/>
            <a:ext cx="2619756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12700" dir="5400000">
              <a:srgbClr val="D9D8D2">
                <a:alpha val="35000"/>
              </a:srgbClr>
            </a:outerShdw>
          </a:effectLst>
        </p:spPr>
      </p:sp>
      <p:sp>
        <p:nvSpPr>
          <p:cNvPr id="33" name="Shape 28"/>
          <p:cNvSpPr/>
          <p:nvPr/>
        </p:nvSpPr>
        <p:spPr>
          <a:xfrm>
            <a:off x="9240012" y="2880360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2967228"/>
            <a:ext cx="192024" cy="192024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9697212" y="2880360"/>
            <a:ext cx="1924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&amp; growth</a:t>
            </a:r>
            <a:endParaRPr lang="en-US" sz="1160" dirty="0"/>
          </a:p>
        </p:txBody>
      </p:sp>
      <p:sp>
        <p:nvSpPr>
          <p:cNvPr id="36" name="Text 30"/>
          <p:cNvSpPr txBox="1"/>
          <p:nvPr/>
        </p:nvSpPr>
        <p:spPr>
          <a:xfrm>
            <a:off x="9258300" y="3328416"/>
            <a:ext cx="23271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2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Birth weight &amp; gestational age · measured height/weight with WHO z-scores (2010–17) · maternal smoking in pregnancy · breastfeeding</a:t>
            </a:r>
            <a:endParaRPr lang="en-US" sz="920" dirty="0"/>
          </a:p>
        </p:txBody>
      </p:sp>
      <p:sp>
        <p:nvSpPr>
          <p:cNvPr id="37" name="Shape 31"/>
          <p:cNvSpPr/>
          <p:nvPr/>
        </p:nvSpPr>
        <p:spPr>
          <a:xfrm>
            <a:off x="457200" y="4736592"/>
            <a:ext cx="2619756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12700" dir="5400000">
              <a:srgbClr val="D9D8D2">
                <a:alpha val="35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585216" y="4855464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" y="4942332"/>
            <a:ext cx="192024" cy="192024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1042416" y="4855464"/>
            <a:ext cx="1924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Education &amp; childcare</a:t>
            </a:r>
            <a:endParaRPr lang="en-US" sz="1160" dirty="0"/>
          </a:p>
        </p:txBody>
      </p:sp>
      <p:sp>
        <p:nvSpPr>
          <p:cNvPr id="41" name="Text 34"/>
          <p:cNvSpPr txBox="1"/>
          <p:nvPr/>
        </p:nvSpPr>
        <p:spPr>
          <a:xfrm>
            <a:off x="603504" y="5303520"/>
            <a:ext cx="23271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2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Childcare &amp; preschool histories from birth · enrollment, grade &amp; school type in every wave · maternal schooling</a:t>
            </a:r>
            <a:endParaRPr lang="en-US" sz="920" dirty="0"/>
          </a:p>
        </p:txBody>
      </p:sp>
      <p:sp>
        <p:nvSpPr>
          <p:cNvPr id="42" name="Shape 35"/>
          <p:cNvSpPr/>
          <p:nvPr/>
        </p:nvSpPr>
        <p:spPr>
          <a:xfrm>
            <a:off x="3342132" y="4736592"/>
            <a:ext cx="2619756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12700" dir="5400000">
              <a:srgbClr val="D9D8D2">
                <a:alpha val="35000"/>
              </a:srgbClr>
            </a:outerShdw>
          </a:effectLst>
        </p:spPr>
      </p:sp>
      <p:sp>
        <p:nvSpPr>
          <p:cNvPr id="43" name="Shape 36"/>
          <p:cNvSpPr/>
          <p:nvPr/>
        </p:nvSpPr>
        <p:spPr>
          <a:xfrm>
            <a:off x="3470148" y="4855464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4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57016" y="4942332"/>
            <a:ext cx="192024" cy="192024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3927348" y="4855464"/>
            <a:ext cx="1924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Family structure</a:t>
            </a:r>
            <a:endParaRPr lang="en-US" sz="1160" dirty="0"/>
          </a:p>
        </p:txBody>
      </p:sp>
      <p:sp>
        <p:nvSpPr>
          <p:cNvPr id="46" name="Text 38"/>
          <p:cNvSpPr txBox="1"/>
          <p:nvPr/>
        </p:nvSpPr>
        <p:spPr>
          <a:xfrm>
            <a:off x="3488436" y="5303520"/>
            <a:ext cx="23271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2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household roster each wave · marriage, divorce &amp; separation — incl. child’s age when a parent left the home · father presence</a:t>
            </a:r>
            <a:endParaRPr lang="en-US" sz="920" dirty="0"/>
          </a:p>
        </p:txBody>
      </p:sp>
      <p:sp>
        <p:nvSpPr>
          <p:cNvPr id="47" name="Shape 39"/>
          <p:cNvSpPr/>
          <p:nvPr/>
        </p:nvSpPr>
        <p:spPr>
          <a:xfrm>
            <a:off x="6227064" y="4736592"/>
            <a:ext cx="2619756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12700" dir="5400000">
              <a:srgbClr val="D9D8D2">
                <a:alpha val="35000"/>
              </a:srgbClr>
            </a:outerShdw>
          </a:effectLst>
        </p:spPr>
      </p:sp>
      <p:sp>
        <p:nvSpPr>
          <p:cNvPr id="48" name="Shape 40"/>
          <p:cNvSpPr/>
          <p:nvPr/>
        </p:nvSpPr>
        <p:spPr>
          <a:xfrm>
            <a:off x="6355080" y="4855464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4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1948" y="4942332"/>
            <a:ext cx="192024" cy="192024"/>
          </a:xfrm>
          <a:prstGeom prst="rect">
            <a:avLst/>
          </a:prstGeom>
        </p:spPr>
      </p:pic>
      <p:sp>
        <p:nvSpPr>
          <p:cNvPr id="50" name="Text 41"/>
          <p:cNvSpPr txBox="1"/>
          <p:nvPr/>
        </p:nvSpPr>
        <p:spPr>
          <a:xfrm>
            <a:off x="6812280" y="4855464"/>
            <a:ext cx="1924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Parenting &amp; home environment</a:t>
            </a:r>
            <a:endParaRPr lang="en-US" sz="1160" dirty="0"/>
          </a:p>
        </p:txBody>
      </p:sp>
      <p:sp>
        <p:nvSpPr>
          <p:cNvPr id="51" name="Text 42"/>
          <p:cNvSpPr txBox="1"/>
          <p:nvPr/>
        </p:nvSpPr>
        <p:spPr>
          <a:xfrm>
            <a:off x="6373368" y="5303520"/>
            <a:ext cx="23271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2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inventory (observed 2012 / reported 2017) · discipline &amp; parenting practices · parental involvement &amp; self-efficacy</a:t>
            </a:r>
            <a:endParaRPr lang="en-US" sz="920" dirty="0"/>
          </a:p>
        </p:txBody>
      </p:sp>
      <p:sp>
        <p:nvSpPr>
          <p:cNvPr id="52" name="Shape 43"/>
          <p:cNvSpPr/>
          <p:nvPr/>
        </p:nvSpPr>
        <p:spPr>
          <a:xfrm>
            <a:off x="9111996" y="4736592"/>
            <a:ext cx="2619756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12700" dir="5400000">
              <a:srgbClr val="D9D8D2">
                <a:alpha val="35000"/>
              </a:srgbClr>
            </a:outerShdw>
          </a:effectLst>
        </p:spPr>
      </p:sp>
      <p:sp>
        <p:nvSpPr>
          <p:cNvPr id="53" name="Shape 44"/>
          <p:cNvSpPr/>
          <p:nvPr/>
        </p:nvSpPr>
        <p:spPr>
          <a:xfrm>
            <a:off x="9240012" y="4855464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5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6880" y="4942332"/>
            <a:ext cx="192024" cy="192024"/>
          </a:xfrm>
          <a:prstGeom prst="rect">
            <a:avLst/>
          </a:prstGeom>
        </p:spPr>
      </p:pic>
      <p:sp>
        <p:nvSpPr>
          <p:cNvPr id="55" name="Text 45"/>
          <p:cNvSpPr txBox="1"/>
          <p:nvPr/>
        </p:nvSpPr>
        <p:spPr>
          <a:xfrm>
            <a:off x="9697212" y="4855464"/>
            <a:ext cx="1924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Caregiver &amp; household</a:t>
            </a:r>
            <a:endParaRPr lang="en-US" sz="1160" dirty="0"/>
          </a:p>
        </p:txBody>
      </p:sp>
      <p:sp>
        <p:nvSpPr>
          <p:cNvPr id="56" name="Text 46"/>
          <p:cNvSpPr txBox="1"/>
          <p:nvPr/>
        </p:nvSpPr>
        <p:spPr>
          <a:xfrm>
            <a:off x="9258300" y="5303520"/>
            <a:ext cx="23271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2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Maternal depression (EPDS, CES-D) &amp; parental stress (PSI) · work histories by child’s age · income · Chile Crece Contigo · 27-F earthquake module (2012)</a:t>
            </a:r>
            <a:endParaRPr lang="en-US" sz="920" dirty="0"/>
          </a:p>
        </p:txBody>
      </p:sp>
      <p:sp>
        <p:nvSpPr>
          <p:cNvPr id="57" name="Text 47"/>
          <p:cNvSpPr txBox="1"/>
          <p:nvPr/>
        </p:nvSpPr>
        <p:spPr>
          <a:xfrm>
            <a:off x="457200" y="6528816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ELPI public microdata &amp; codebooks, waves 2010–2024 — observatorio.ministeriodesarrollosocial.gob.cl (instrument coverage by wave in parentheses).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11274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ask the child — verbatim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Standardized tests administered by a trained evaluator — and, from 2024, a sensitive module the adolescent answers alone. Quotes are verbatim from the official microdata (variable labels), sic.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25296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EVALUATOR, WITH THE CHILD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3703320" cy="786384"/>
          </a:xfrm>
          <a:prstGeom prst="roundRect">
            <a:avLst>
              <a:gd name="adj" fmla="val 6977"/>
            </a:avLst>
          </a:prstGeom>
          <a:solidFill>
            <a:srgbClr val="EDF3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85216" y="1554480"/>
            <a:ext cx="3447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TVIP · all four waves</a:t>
            </a:r>
            <a:endParaRPr lang="en-US" sz="1030" dirty="0"/>
          </a:p>
        </p:txBody>
      </p:sp>
      <p:sp>
        <p:nvSpPr>
          <p:cNvPr id="7" name="Text 5"/>
          <p:cNvSpPr txBox="1"/>
          <p:nvPr/>
        </p:nvSpPr>
        <p:spPr>
          <a:xfrm>
            <a:off x="585216" y="1773936"/>
            <a:ext cx="34472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child hears a word and points to 1 of 4 pictures — receptive vocabulary (Peabody, Hispanic norms).</a:t>
            </a:r>
            <a:endParaRPr lang="en-US" sz="880" dirty="0"/>
          </a:p>
        </p:txBody>
      </p:sp>
      <p:sp>
        <p:nvSpPr>
          <p:cNvPr id="8" name="Shape 6"/>
          <p:cNvSpPr/>
          <p:nvPr/>
        </p:nvSpPr>
        <p:spPr>
          <a:xfrm>
            <a:off x="4242816" y="1481328"/>
            <a:ext cx="3703320" cy="786384"/>
          </a:xfrm>
          <a:prstGeom prst="roundRect">
            <a:avLst>
              <a:gd name="adj" fmla="val 6977"/>
            </a:avLst>
          </a:prstGeom>
          <a:solidFill>
            <a:srgbClr val="EDF3F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370832" y="1554480"/>
            <a:ext cx="3447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“Juego del Corazón / de la Flor” · 2017</a:t>
            </a:r>
            <a:endParaRPr lang="en-US" sz="1030" dirty="0"/>
          </a:p>
        </p:txBody>
      </p:sp>
      <p:sp>
        <p:nvSpPr>
          <p:cNvPr id="10" name="Text 8"/>
          <p:cNvSpPr txBox="1"/>
          <p:nvPr/>
        </p:nvSpPr>
        <p:spPr>
          <a:xfrm>
            <a:off x="4370832" y="1773936"/>
            <a:ext cx="34472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Hearts &amp; Flowers: computerized inhibition task — % correct and reaction times (executive function).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8028432" y="1481328"/>
            <a:ext cx="3703320" cy="786384"/>
          </a:xfrm>
          <a:prstGeom prst="roundRect">
            <a:avLst>
              <a:gd name="adj" fmla="val 6977"/>
            </a:avLst>
          </a:prstGeom>
          <a:solidFill>
            <a:srgbClr val="EDF3F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156448" y="1554480"/>
            <a:ext cx="3447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digit span · 2012–17</a:t>
            </a:r>
            <a:endParaRPr lang="en-US" sz="1030" dirty="0"/>
          </a:p>
        </p:txBody>
      </p:sp>
      <p:sp>
        <p:nvSpPr>
          <p:cNvPr id="13" name="Text 11"/>
          <p:cNvSpPr txBox="1"/>
          <p:nvPr/>
        </p:nvSpPr>
        <p:spPr>
          <a:xfrm>
            <a:off x="8156448" y="1773936"/>
            <a:ext cx="34472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child repeats digit strings in reverse order — working memory.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4323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ADOLESCENT ANSWERS ALONE — SELF-COMPLETED MODULE, 2024 (AGES 14–18)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724912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“¿Te has sentido bajoneado(a), deprimido(a), irritable o desesperanzado(a)?”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108960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d4_1 · PHQ-2, depression screen</a:t>
            </a:r>
            <a:endParaRPr lang="en-US" sz="780" dirty="0"/>
          </a:p>
        </p:txBody>
      </p:sp>
      <p:sp>
        <p:nvSpPr>
          <p:cNvPr id="17" name="Text 15"/>
          <p:cNvSpPr txBox="1"/>
          <p:nvPr/>
        </p:nvSpPr>
        <p:spPr>
          <a:xfrm>
            <a:off x="6291072" y="2724912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“¿Te has sentido muy nervioso(a), angustiado(a) o con los nervios de punta?”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291072" y="3108960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d4_3 · GAD-2, anxiety screen</a:t>
            </a:r>
            <a:endParaRPr lang="en-US" sz="78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40156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“Ha presenciado peleas o amenazas entre los integrantes del hogar”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785616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aces_2 · adverse childhood experiences (ACEs)</a:t>
            </a:r>
            <a:endParaRPr lang="en-US" sz="780" dirty="0"/>
          </a:p>
        </p:txBody>
      </p:sp>
      <p:sp>
        <p:nvSpPr>
          <p:cNvPr id="21" name="Text 19"/>
          <p:cNvSpPr txBox="1"/>
          <p:nvPr/>
        </p:nvSpPr>
        <p:spPr>
          <a:xfrm>
            <a:off x="6291072" y="340156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“Vivió o vive con personas que tenían un problema de consumo excesivo de alcohol, drogas o medicinas”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291072" y="3785616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aces_10 · adverse childhood experiences (ACEs)</a:t>
            </a:r>
            <a:endParaRPr lang="en-US" sz="78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078224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“¿Has fumado cigarrillos de tabaco alguna vez en los últimos 12 meses?”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462272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g11 · tobacco use</a:t>
            </a:r>
            <a:endParaRPr lang="en-US" sz="780" dirty="0"/>
          </a:p>
        </p:txBody>
      </p:sp>
      <p:sp>
        <p:nvSpPr>
          <p:cNvPr id="25" name="Text 23"/>
          <p:cNvSpPr txBox="1"/>
          <p:nvPr/>
        </p:nvSpPr>
        <p:spPr>
          <a:xfrm>
            <a:off x="6291072" y="4078224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“¿Cuántos días consumiste alcohol la semana pasada?”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291072" y="4462272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g12_frec · alcohol use</a:t>
            </a:r>
            <a:endParaRPr lang="en-US" sz="78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75488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“¿En los últimos 12 meses has recibido llamadas al celular insultantes o amenazantes?”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5138928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g2_3 · cyberbullying / victimization</a:t>
            </a:r>
            <a:endParaRPr lang="en-US" sz="780" dirty="0"/>
          </a:p>
        </p:txBody>
      </p:sp>
      <p:sp>
        <p:nvSpPr>
          <p:cNvPr id="29" name="Text 27"/>
          <p:cNvSpPr txBox="1"/>
          <p:nvPr/>
        </p:nvSpPr>
        <p:spPr>
          <a:xfrm>
            <a:off x="6291072" y="475488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“¿Qué promedio de notas tuviste el año pasado?”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291072" y="5138928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e3_asiste · self-reported GPA (Chilean 1–7 scale)</a:t>
            </a:r>
            <a:endParaRPr lang="en-US" sz="78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50468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ALREADY AT AGES 8–12 — THE CHILD SELF-REPORTS (2017)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576072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“¿Piensas que en tu colegio hay estudiantes que fuman cigarrillos…?”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6144768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d13 · child questionnaire, risk environment at school</a:t>
            </a:r>
            <a:endParaRPr lang="en-US" sz="780" dirty="0"/>
          </a:p>
        </p:txBody>
      </p:sp>
      <p:sp>
        <p:nvSpPr>
          <p:cNvPr id="34" name="Text 32"/>
          <p:cNvSpPr txBox="1"/>
          <p:nvPr/>
        </p:nvSpPr>
        <p:spPr>
          <a:xfrm>
            <a:off x="6291072" y="576072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“En la última semana, ¿tú y alguien de tu familia leyeron juntos libros…?”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291072" y="6144768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b17 · child questionnaire, family reading</a:t>
            </a:r>
            <a:endParaRPr lang="en-US" sz="78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6528816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Verbatim variable labels from the ELPI public microdata; 2010–12 files store labels truncated at 80 characters (ellipses). Bracketed terms replace questionnaire placeholders.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11274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ask the caregiver — verbatim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main caregiver (usually the mother) is interviewed at home in every wave — retrospective pregnancy modules, screened mental-health scales, observed parenting, income, programs, and a dedicated 27-F module in 2012.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274320" cy="27432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" y="1367028"/>
            <a:ext cx="137160" cy="1371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41248" y="12984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Family structure &amp; separation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75488" y="1627632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“¿Qué edad tenía [el/la adolescente] cuando la madre dejó de vivir con él(ella)?”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475488" y="2011680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2024 (also 2017; asked for mother and father) · separation timing</a:t>
            </a:r>
            <a:endParaRPr lang="en-US" sz="780" dirty="0"/>
          </a:p>
        </p:txBody>
      </p:sp>
      <p:sp>
        <p:nvSpPr>
          <p:cNvPr id="9" name="Shape 6"/>
          <p:cNvSpPr/>
          <p:nvPr/>
        </p:nvSpPr>
        <p:spPr>
          <a:xfrm>
            <a:off x="457200" y="2304288"/>
            <a:ext cx="274320" cy="27432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" y="2372868"/>
            <a:ext cx="137160" cy="1371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41248" y="23042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Pregnancy &amp; birth (retrospective)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75488" y="2633472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“Durante el embarazo del(de la) niño(a) seleccionado(a), ¿fumó cigarrillos?”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475488" y="2852928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b8 · 2012 (also 2010 g7a) · smoking in pregnancy</a:t>
            </a:r>
            <a:endParaRPr lang="en-US" sz="780" dirty="0"/>
          </a:p>
        </p:txBody>
      </p:sp>
      <p:sp>
        <p:nvSpPr>
          <p:cNvPr id="14" name="Text 10"/>
          <p:cNvSpPr txBox="1"/>
          <p:nvPr/>
        </p:nvSpPr>
        <p:spPr>
          <a:xfrm>
            <a:off x="475488" y="303580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“¿El embarazo del(de la) niño(a) seleccionado(a) fue planificado?”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475488" y="3255264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b36 · 2012 · planned pregnancy</a:t>
            </a:r>
            <a:endParaRPr lang="en-US" sz="780" dirty="0"/>
          </a:p>
        </p:txBody>
      </p:sp>
      <p:sp>
        <p:nvSpPr>
          <p:cNvPr id="16" name="Shape 12"/>
          <p:cNvSpPr/>
          <p:nvPr/>
        </p:nvSpPr>
        <p:spPr>
          <a:xfrm>
            <a:off x="457200" y="3547872"/>
            <a:ext cx="274320" cy="27432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" y="3616452"/>
            <a:ext cx="137160" cy="1371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1248" y="35478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Caregiver mental health (screened scales)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475488" y="3877056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“Me sentí deprimido/a — Sentí que todo lo que hacía me costaba un gran esfuerzo”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475488" y="4261104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cesd_p1d / cesd_p1e · CES-D-10 depression, 2017 &amp; 2024</a:t>
            </a:r>
            <a:endParaRPr lang="en-US" sz="780" dirty="0"/>
          </a:p>
        </p:txBody>
      </p:sp>
      <p:sp>
        <p:nvSpPr>
          <p:cNvPr id="21" name="Text 16"/>
          <p:cNvSpPr txBox="1"/>
          <p:nvPr/>
        </p:nvSpPr>
        <p:spPr>
          <a:xfrm>
            <a:off x="475488" y="4443984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“Ser cuidador/a me pone tenso/a y ansioso/a”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475488" y="4663440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pscs_p16 · parental self-efficacy scale (PSCS), 2017 &amp; 2024</a:t>
            </a:r>
            <a:endParaRPr lang="en-US" sz="780" dirty="0"/>
          </a:p>
        </p:txBody>
      </p:sp>
      <p:sp>
        <p:nvSpPr>
          <p:cNvPr id="23" name="Text 18"/>
          <p:cNvSpPr txBox="1"/>
          <p:nvPr/>
        </p:nvSpPr>
        <p:spPr>
          <a:xfrm>
            <a:off x="475488" y="484632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“EPDS postpartum depression score — incl. a ‘Pensamientos Suicidas’ flag”</a:t>
            </a:r>
            <a:endParaRPr lang="en-US" sz="1000" dirty="0"/>
          </a:p>
        </p:txBody>
      </p:sp>
      <p:sp>
        <p:nvSpPr>
          <p:cNvPr id="24" name="Text 19"/>
          <p:cNvSpPr txBox="1"/>
          <p:nvPr/>
        </p:nvSpPr>
        <p:spPr>
          <a:xfrm>
            <a:off x="475488" y="5065776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epds_pb / epds_ps · 2012 · plus Parental Stress Index (PSI) 2012–2024</a:t>
            </a:r>
            <a:endParaRPr lang="en-US" sz="780" dirty="0"/>
          </a:p>
        </p:txBody>
      </p:sp>
      <p:sp>
        <p:nvSpPr>
          <p:cNvPr id="25" name="Shape 20"/>
          <p:cNvSpPr/>
          <p:nvPr/>
        </p:nvSpPr>
        <p:spPr>
          <a:xfrm>
            <a:off x="457200" y="5358384"/>
            <a:ext cx="274320" cy="27432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" y="5426964"/>
            <a:ext cx="137160" cy="13716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41248" y="53583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Household economy</a:t>
            </a:r>
            <a:endParaRPr lang="en-US" sz="1150" dirty="0"/>
          </a:p>
        </p:txBody>
      </p:sp>
      <p:sp>
        <p:nvSpPr>
          <p:cNvPr id="28" name="Text 22"/>
          <p:cNvSpPr txBox="1"/>
          <p:nvPr/>
        </p:nvSpPr>
        <p:spPr>
          <a:xfrm>
            <a:off x="475488" y="568756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“En [mes pasado], ¿cuál fue el ingreso de [nombre] proveniente de su o sus trabajos, ocupación o actividad?”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475488" y="6071616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y1 · 2024 · income module y1–y5, per household member</a:t>
            </a:r>
            <a:endParaRPr lang="en-US" sz="780" dirty="0"/>
          </a:p>
        </p:txBody>
      </p:sp>
      <p:sp>
        <p:nvSpPr>
          <p:cNvPr id="30" name="Shape 24"/>
          <p:cNvSpPr/>
          <p:nvPr/>
        </p:nvSpPr>
        <p:spPr>
          <a:xfrm>
            <a:off x="6291072" y="1298448"/>
            <a:ext cx="274320" cy="27432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9652" y="1367028"/>
            <a:ext cx="137160" cy="13716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6675120" y="12984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Parenting — reported and observed</a:t>
            </a:r>
            <a:endParaRPr lang="en-US" sz="1150" dirty="0"/>
          </a:p>
        </p:txBody>
      </p:sp>
      <p:sp>
        <p:nvSpPr>
          <p:cNvPr id="33" name="Text 26"/>
          <p:cNvSpPr txBox="1"/>
          <p:nvPr/>
        </p:nvSpPr>
        <p:spPr>
          <a:xfrm>
            <a:off x="6309360" y="1627632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“Le dio una palmada o cachetada en alguna parte del cuerpo”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6309360" y="1847088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pc4_6 · 2024 · discipline in the last month (also 2012 f20c–g)</a:t>
            </a:r>
            <a:endParaRPr lang="en-US" sz="780" dirty="0"/>
          </a:p>
        </p:txBody>
      </p:sp>
      <p:sp>
        <p:nvSpPr>
          <p:cNvPr id="35" name="Text 28"/>
          <p:cNvSpPr txBox="1"/>
          <p:nvPr/>
        </p:nvSpPr>
        <p:spPr>
          <a:xfrm>
            <a:off x="6309360" y="202996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“¿Cree usted que para criar o educar correctamente a un adolescente, se le debe castigar físicamente?”</a:t>
            </a:r>
            <a:endParaRPr lang="en-US" sz="1000" dirty="0"/>
          </a:p>
        </p:txBody>
      </p:sp>
      <p:sp>
        <p:nvSpPr>
          <p:cNvPr id="36" name="Text 29"/>
          <p:cNvSpPr txBox="1"/>
          <p:nvPr/>
        </p:nvSpPr>
        <p:spPr>
          <a:xfrm>
            <a:off x="6309360" y="2414016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pc5 · 2024 · attitudes toward corporal punishment</a:t>
            </a:r>
            <a:endParaRPr lang="en-US" sz="780" dirty="0"/>
          </a:p>
        </p:txBody>
      </p:sp>
      <p:sp>
        <p:nvSpPr>
          <p:cNvPr id="37" name="Text 30"/>
          <p:cNvSpPr txBox="1"/>
          <p:nvPr/>
        </p:nvSpPr>
        <p:spPr>
          <a:xfrm>
            <a:off x="6309360" y="2596896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“La Madre o tutora lee historias al(a la) niño(a), al menos tres veces a la…”</a:t>
            </a:r>
            <a:endParaRPr lang="en-US" sz="1000" dirty="0"/>
          </a:p>
        </p:txBody>
      </p:sp>
      <p:sp>
        <p:nvSpPr>
          <p:cNvPr id="38" name="Text 31"/>
          <p:cNvSpPr txBox="1"/>
          <p:nvPr/>
        </p:nvSpPr>
        <p:spPr>
          <a:xfrm>
            <a:off x="6309360" y="2816352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h11 · 2010 · HOME inventory — marked by the evaluator observing the home</a:t>
            </a:r>
            <a:endParaRPr lang="en-US" sz="780" dirty="0"/>
          </a:p>
        </p:txBody>
      </p:sp>
      <p:sp>
        <p:nvSpPr>
          <p:cNvPr id="39" name="Shape 32"/>
          <p:cNvSpPr/>
          <p:nvPr/>
        </p:nvSpPr>
        <p:spPr>
          <a:xfrm>
            <a:off x="6291072" y="3108960"/>
            <a:ext cx="274320" cy="27432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9652" y="3177540"/>
            <a:ext cx="137160" cy="13716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6675120" y="31089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27-F earthquake module (2012)</a:t>
            </a:r>
            <a:endParaRPr lang="en-US" sz="1150" dirty="0"/>
          </a:p>
        </p:txBody>
      </p:sp>
      <p:sp>
        <p:nvSpPr>
          <p:cNvPr id="42" name="Text 34"/>
          <p:cNvSpPr txBox="1"/>
          <p:nvPr/>
        </p:nvSpPr>
        <p:spPr>
          <a:xfrm>
            <a:off x="6309360" y="3438144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“Producto del terremoto/tsunami, ¿la vivienda que habitaba el(la) niño(a)…?”</a:t>
            </a:r>
            <a:endParaRPr lang="en-US" sz="1000" dirty="0"/>
          </a:p>
        </p:txBody>
      </p:sp>
      <p:sp>
        <p:nvSpPr>
          <p:cNvPr id="43" name="Text 35"/>
          <p:cNvSpPr txBox="1"/>
          <p:nvPr/>
        </p:nvSpPr>
        <p:spPr>
          <a:xfrm>
            <a:off x="6309360" y="3657600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 · housing damage</a:t>
            </a:r>
            <a:endParaRPr lang="en-US" sz="780" dirty="0"/>
          </a:p>
        </p:txBody>
      </p:sp>
      <p:sp>
        <p:nvSpPr>
          <p:cNvPr id="44" name="Text 36"/>
          <p:cNvSpPr txBox="1"/>
          <p:nvPr/>
        </p:nvSpPr>
        <p:spPr>
          <a:xfrm>
            <a:off x="6309360" y="38404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“Recuerdos traumáticos del terremoto — stress/angustia/ansiedad — miedo/pánico”</a:t>
            </a:r>
            <a:endParaRPr lang="en-US" sz="1000" dirty="0"/>
          </a:p>
        </p:txBody>
      </p:sp>
      <p:sp>
        <p:nvSpPr>
          <p:cNvPr id="45" name="Text 37"/>
          <p:cNvSpPr txBox="1"/>
          <p:nvPr/>
        </p:nvSpPr>
        <p:spPr>
          <a:xfrm>
            <a:off x="6309360" y="4224528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h4_2–h4_5 · post-quake symptom checklist</a:t>
            </a:r>
            <a:endParaRPr lang="en-US" sz="780" dirty="0"/>
          </a:p>
        </p:txBody>
      </p:sp>
      <p:sp>
        <p:nvSpPr>
          <p:cNvPr id="46" name="Text 38"/>
          <p:cNvSpPr txBox="1"/>
          <p:nvPr/>
        </p:nvSpPr>
        <p:spPr>
          <a:xfrm>
            <a:off x="6309360" y="440740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“¿Usted consultó a un psicólogo o psiquiatra a causa de estos síntomas?”</a:t>
            </a:r>
            <a:endParaRPr lang="en-US" sz="1000" dirty="0"/>
          </a:p>
        </p:txBody>
      </p:sp>
      <p:sp>
        <p:nvSpPr>
          <p:cNvPr id="47" name="Text 39"/>
          <p:cNvSpPr txBox="1"/>
          <p:nvPr/>
        </p:nvSpPr>
        <p:spPr>
          <a:xfrm>
            <a:off x="6309360" y="4626864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h5 · mental-health care take-up after 27-F</a:t>
            </a:r>
            <a:endParaRPr lang="en-US" sz="780" dirty="0"/>
          </a:p>
        </p:txBody>
      </p:sp>
      <p:sp>
        <p:nvSpPr>
          <p:cNvPr id="48" name="Shape 40"/>
          <p:cNvSpPr/>
          <p:nvPr/>
        </p:nvSpPr>
        <p:spPr>
          <a:xfrm>
            <a:off x="6291072" y="4919472"/>
            <a:ext cx="274320" cy="27432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4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9652" y="4988052"/>
            <a:ext cx="137160" cy="137160"/>
          </a:xfrm>
          <a:prstGeom prst="rect">
            <a:avLst/>
          </a:prstGeom>
        </p:spPr>
      </p:pic>
      <p:sp>
        <p:nvSpPr>
          <p:cNvPr id="50" name="Text 41"/>
          <p:cNvSpPr txBox="1"/>
          <p:nvPr/>
        </p:nvSpPr>
        <p:spPr>
          <a:xfrm>
            <a:off x="6675120" y="49194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Programs &amp; the home</a:t>
            </a:r>
            <a:endParaRPr lang="en-US" sz="1150" dirty="0"/>
          </a:p>
        </p:txBody>
      </p:sp>
      <p:sp>
        <p:nvSpPr>
          <p:cNvPr id="51" name="Text 42"/>
          <p:cNvSpPr txBox="1"/>
          <p:nvPr/>
        </p:nvSpPr>
        <p:spPr>
          <a:xfrm>
            <a:off x="6309360" y="5248656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“¿Conoce o ha escuchado hablar del programa Chile Crece Contigo?”</a:t>
            </a:r>
            <a:endParaRPr lang="en-US" sz="1000" dirty="0"/>
          </a:p>
        </p:txBody>
      </p:sp>
      <p:sp>
        <p:nvSpPr>
          <p:cNvPr id="52" name="Text 43"/>
          <p:cNvSpPr txBox="1"/>
          <p:nvPr/>
        </p:nvSpPr>
        <p:spPr>
          <a:xfrm>
            <a:off x="6309360" y="5468112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f27 · 2012 · program awareness &amp; receipt (f29: materials received)</a:t>
            </a:r>
            <a:endParaRPr lang="en-US" sz="780" dirty="0"/>
          </a:p>
        </p:txBody>
      </p:sp>
      <p:sp>
        <p:nvSpPr>
          <p:cNvPr id="53" name="Text 44"/>
          <p:cNvSpPr txBox="1"/>
          <p:nvPr/>
        </p:nvSpPr>
        <p:spPr>
          <a:xfrm>
            <a:off x="6309360" y="5650992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“¿Más o menos cuántos libros infantiles o juveniles tiene en su casa?”</a:t>
            </a:r>
            <a:endParaRPr lang="en-US" sz="1000" dirty="0"/>
          </a:p>
        </p:txBody>
      </p:sp>
      <p:sp>
        <p:nvSpPr>
          <p:cNvPr id="54" name="Text 45"/>
          <p:cNvSpPr txBox="1"/>
          <p:nvPr/>
        </p:nvSpPr>
        <p:spPr>
          <a:xfrm>
            <a:off x="6309360" y="5870448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home1 · 2024 · HOME, books at home</a:t>
            </a:r>
            <a:endParaRPr lang="en-US" sz="780" dirty="0"/>
          </a:p>
        </p:txBody>
      </p:sp>
      <p:sp>
        <p:nvSpPr>
          <p:cNvPr id="55" name="Text 46"/>
          <p:cNvSpPr txBox="1"/>
          <p:nvPr/>
        </p:nvSpPr>
        <p:spPr>
          <a:xfrm>
            <a:off x="457200" y="6528816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Verbatim variable labels from the ELPI public microdata; 2010–12 files store labels truncated at 80 characters (ellipses). Bracketed terms replace questionnaire placeholders (%nombre%, %mes pasado%).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11274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waves, one generation: sampling &amp; attrition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original 2010 cohort is re-interviewed in every wave; refresh samples added in 2012 and 2017 were not re-fielded in 2024.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822960" y="2294213"/>
            <a:ext cx="1280160" cy="26618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349077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15,175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2880360" y="2693619"/>
            <a:ext cx="1280160" cy="2262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880360" y="2748483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12,898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937760" y="3161611"/>
            <a:ext cx="1280160" cy="17944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937760" y="3216475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10,230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995160" y="3201429"/>
            <a:ext cx="1280160" cy="17546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95160" y="3256293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10,003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880360" y="2143711"/>
            <a:ext cx="1280160" cy="549908"/>
          </a:xfrm>
          <a:prstGeom prst="rect">
            <a:avLst/>
          </a:prstGeom>
          <a:solidFill>
            <a:srgbClr val="C9C8B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80360" y="2318081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+3,135</a:t>
            </a:r>
            <a:endParaRPr lang="en-US" sz="830" dirty="0"/>
          </a:p>
        </p:txBody>
      </p:sp>
      <p:sp>
        <p:nvSpPr>
          <p:cNvPr id="14" name="Shape 12"/>
          <p:cNvSpPr/>
          <p:nvPr/>
        </p:nvSpPr>
        <p:spPr>
          <a:xfrm>
            <a:off x="4937760" y="2785885"/>
            <a:ext cx="1280160" cy="375727"/>
          </a:xfrm>
          <a:prstGeom prst="rect">
            <a:avLst/>
          </a:prstGeom>
          <a:solidFill>
            <a:srgbClr val="C9C8B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937760" y="287316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+2,142</a:t>
            </a:r>
            <a:endParaRPr lang="en-US" sz="830" dirty="0"/>
          </a:p>
        </p:txBody>
      </p:sp>
      <p:sp>
        <p:nvSpPr>
          <p:cNvPr id="16" name="Shape 14"/>
          <p:cNvSpPr/>
          <p:nvPr/>
        </p:nvSpPr>
        <p:spPr>
          <a:xfrm>
            <a:off x="4937760" y="1920240"/>
            <a:ext cx="1280160" cy="865645"/>
          </a:xfrm>
          <a:prstGeom prst="rect">
            <a:avLst/>
          </a:prstGeom>
          <a:solidFill>
            <a:srgbClr val="E0DFD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937760" y="225247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+4,935</a:t>
            </a:r>
            <a:endParaRPr lang="en-US" sz="830" dirty="0"/>
          </a:p>
        </p:txBody>
      </p:sp>
      <p:sp>
        <p:nvSpPr>
          <p:cNvPr id="18" name="Text 16"/>
          <p:cNvSpPr txBox="1"/>
          <p:nvPr/>
        </p:nvSpPr>
        <p:spPr>
          <a:xfrm>
            <a:off x="2514600" y="1905967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16,033 interviewed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16824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17,307 interviewed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988820" y="36393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85.0%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2180844" y="3931920"/>
            <a:ext cx="621792" cy="219456"/>
          </a:xfrm>
          <a:prstGeom prst="rightArrow">
            <a:avLst/>
          </a:prstGeom>
          <a:solidFill>
            <a:srgbClr val="1E3D5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988820" y="420624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retained</a:t>
            </a:r>
            <a:endParaRPr lang="en-US" sz="820" dirty="0"/>
          </a:p>
        </p:txBody>
      </p:sp>
      <p:sp>
        <p:nvSpPr>
          <p:cNvPr id="23" name="Text 21"/>
          <p:cNvSpPr txBox="1"/>
          <p:nvPr/>
        </p:nvSpPr>
        <p:spPr>
          <a:xfrm>
            <a:off x="4046220" y="36393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79.3%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4238244" y="3931920"/>
            <a:ext cx="621792" cy="219456"/>
          </a:xfrm>
          <a:prstGeom prst="rightArrow">
            <a:avLst/>
          </a:prstGeom>
          <a:solidFill>
            <a:srgbClr val="1E3D5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046220" y="420624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retained</a:t>
            </a:r>
            <a:endParaRPr lang="en-US" sz="820" dirty="0"/>
          </a:p>
        </p:txBody>
      </p:sp>
      <p:sp>
        <p:nvSpPr>
          <p:cNvPr id="26" name="Text 24"/>
          <p:cNvSpPr txBox="1"/>
          <p:nvPr/>
        </p:nvSpPr>
        <p:spPr>
          <a:xfrm>
            <a:off x="6103620" y="36393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97.8%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295644" y="3931920"/>
            <a:ext cx="621792" cy="219456"/>
          </a:xfrm>
          <a:prstGeom prst="rightArrow">
            <a:avLst/>
          </a:prstGeom>
          <a:solidFill>
            <a:srgbClr val="1E3D5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103620" y="420624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retained</a:t>
            </a:r>
            <a:endParaRPr lang="en-US" sz="82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5047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2010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53400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· ages 0–4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55040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Infancy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2514600" y="5047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2012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2514600" y="53400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 · ages 2–6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2514600" y="555040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childhood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4572000" y="5047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2017–18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0" y="53400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3 · ages 8–12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4572000" y="555040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childhood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6629400" y="5047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2024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6629400" y="53400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4 · ages 14–18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6629400" y="555040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Adolescence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822960" y="6053328"/>
            <a:ext cx="164592" cy="1645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1042416" y="60350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 2010 cohort — followed in every wave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434840" y="6053328"/>
            <a:ext cx="164592" cy="164592"/>
          </a:xfrm>
          <a:prstGeom prst="rect">
            <a:avLst/>
          </a:prstGeom>
          <a:solidFill>
            <a:srgbClr val="C9C8B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654296" y="6035040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Refresh samples — 2012: +3,135 born 2010–11; 2017: +2,142 of them re-interviewed and +4,935 born 2015–17; none re-fielded in 2024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9006840" y="157276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34.1%</a:t>
            </a:r>
            <a:endParaRPr lang="en-US" sz="4400" dirty="0"/>
          </a:p>
        </p:txBody>
      </p:sp>
      <p:sp>
        <p:nvSpPr>
          <p:cNvPr id="46" name="Text 44"/>
          <p:cNvSpPr txBox="1"/>
          <p:nvPr/>
        </p:nvSpPr>
        <p:spPr>
          <a:xfrm>
            <a:off x="9006840" y="2249424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attrition of the original cohort over 14 years — 65.9% of the 2010 infants are still in the panel as adolescents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9006840" y="305409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10,003</a:t>
            </a:r>
            <a:endParaRPr lang="en-US" sz="3000" dirty="0"/>
          </a:p>
        </p:txBody>
      </p:sp>
      <p:sp>
        <p:nvSpPr>
          <p:cNvPr id="48" name="Text 46"/>
          <p:cNvSpPr txBox="1"/>
          <p:nvPr/>
        </p:nvSpPr>
        <p:spPr>
          <a:xfrm>
            <a:off x="9006840" y="3547872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adolescents aged 14–18 in 2024 — every one of them enrolled as an infant in 2010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9006840" y="4224528"/>
            <a:ext cx="2743200" cy="1042416"/>
          </a:xfrm>
          <a:prstGeom prst="roundRect">
            <a:avLst>
              <a:gd name="adj" fmla="val 5263"/>
            </a:avLst>
          </a:prstGeom>
          <a:solidFill>
            <a:srgbClr val="EDF3F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9144000" y="4334256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14-year panel: </a:t>
            </a:r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4 re-fielded only the original cohort. Balanced panel present in all four waves: </a:t>
            </a:r>
            <a:pPr algn="l" indent="0" marL="0">
              <a:buNone/>
            </a:pPr>
            <a:r>
              <a:rPr lang="en-US" sz="10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7,012 children.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457200" y="6528816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Counts: children interviewed per wave, by sample of origin (own tabulations from ELPI microdata via the child ID; wave-3 evaluation sample: 15,827). Attrition figure consistent with the ELPI cohort profile.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pec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19456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DiD de Gillmore: cohortes, olas y edades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grupos, no dos: la muestra original y la mitad tratada del refresco 2012 (Affected = 1), y las dos tandas concebidas después del 27-F (Affected = 0). Solo la original llega a 2024.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685751" y="1353312"/>
            <a:ext cx="457200" cy="2907792"/>
          </a:xfrm>
          <a:prstGeom prst="roundRect">
            <a:avLst>
              <a:gd name="adj" fmla="val 10000"/>
            </a:avLst>
          </a:prstGeom>
          <a:solidFill>
            <a:srgbClr val="EDF3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274271" y="113385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OLA 2010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366796" y="1353312"/>
            <a:ext cx="603504" cy="2907792"/>
          </a:xfrm>
          <a:prstGeom prst="roundRect">
            <a:avLst>
              <a:gd name="adj" fmla="val 7576"/>
            </a:avLst>
          </a:prstGeom>
          <a:solidFill>
            <a:srgbClr val="EDF3F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8468" y="113385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OLA 2012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23662" y="1353312"/>
            <a:ext cx="603504" cy="2907792"/>
          </a:xfrm>
          <a:prstGeom prst="roundRect">
            <a:avLst>
              <a:gd name="adj" fmla="val 7576"/>
            </a:avLst>
          </a:prstGeom>
          <a:solidFill>
            <a:srgbClr val="EDF3F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85334" y="113385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OLA 2017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976138" y="1353312"/>
            <a:ext cx="603504" cy="2907792"/>
          </a:xfrm>
          <a:prstGeom prst="roundRect">
            <a:avLst>
              <a:gd name="adj" fmla="val 7576"/>
            </a:avLst>
          </a:prstGeom>
          <a:solidFill>
            <a:srgbClr val="EDF3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637810" y="113385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OLA 2024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94243" y="1280160"/>
            <a:ext cx="27432" cy="30906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059319" y="950976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27-F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651760" y="1627632"/>
            <a:ext cx="9006840" cy="256032"/>
          </a:xfrm>
          <a:prstGeom prst="roundRect">
            <a:avLst>
              <a:gd name="adj" fmla="val 25000"/>
            </a:avLst>
          </a:prstGeom>
          <a:solidFill>
            <a:srgbClr val="CFE0F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1508760"/>
            <a:ext cx="212140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AFFECTED = 1 · muestra ORIGINAL</a:t>
            </a:r>
            <a:endParaRPr lang="en-US" sz="86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1673352"/>
            <a:ext cx="2121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Nacidos 2006–2009. Entran en 2010 con 0–4. Los únicos seguidos hasta 2024.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4832055" y="1673352"/>
            <a:ext cx="164592" cy="164592"/>
          </a:xfrm>
          <a:prstGeom prst="ellipse">
            <a:avLst/>
          </a:prstGeom>
          <a:solidFill>
            <a:srgbClr val="FFFFFF"/>
          </a:solidFill>
          <a:ln w="22225">
            <a:solidFill>
              <a:srgbClr val="2A78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411431" y="1389888"/>
            <a:ext cx="1005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0–4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4137111" y="1901952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i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· solo línea base</a:t>
            </a:r>
            <a:endParaRPr lang="en-US" sz="720" dirty="0"/>
          </a:p>
        </p:txBody>
      </p:sp>
      <p:sp>
        <p:nvSpPr>
          <p:cNvPr id="20" name="Shape 18"/>
          <p:cNvSpPr/>
          <p:nvPr/>
        </p:nvSpPr>
        <p:spPr>
          <a:xfrm>
            <a:off x="5554248" y="1641348"/>
            <a:ext cx="228600" cy="228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165628" y="1389888"/>
            <a:ext cx="1005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2–6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891308" y="1901952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i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corto plazo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7911114" y="1641348"/>
            <a:ext cx="228600" cy="228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522494" y="1389888"/>
            <a:ext cx="1005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8–12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7248174" y="1901952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i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mediano</a:t>
            </a:r>
            <a:endParaRPr lang="en-US" sz="720" dirty="0"/>
          </a:p>
        </p:txBody>
      </p:sp>
      <p:sp>
        <p:nvSpPr>
          <p:cNvPr id="26" name="Shape 24"/>
          <p:cNvSpPr/>
          <p:nvPr/>
        </p:nvSpPr>
        <p:spPr>
          <a:xfrm>
            <a:off x="11163590" y="1641348"/>
            <a:ext cx="228600" cy="228600"/>
          </a:xfrm>
          <a:prstGeom prst="ellipse">
            <a:avLst/>
          </a:prstGeom>
          <a:solidFill>
            <a:srgbClr val="1E3D5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774970" y="1389888"/>
            <a:ext cx="1005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14–18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0500650" y="1901952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i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largo (nuestro)</a:t>
            </a:r>
            <a:endParaRPr lang="en-US" sz="720" dirty="0"/>
          </a:p>
        </p:txBody>
      </p:sp>
      <p:sp>
        <p:nvSpPr>
          <p:cNvPr id="29" name="Shape 27"/>
          <p:cNvSpPr/>
          <p:nvPr/>
        </p:nvSpPr>
        <p:spPr>
          <a:xfrm>
            <a:off x="4631527" y="2331720"/>
            <a:ext cx="7027073" cy="256032"/>
          </a:xfrm>
          <a:prstGeom prst="roundRect">
            <a:avLst>
              <a:gd name="adj" fmla="val 25000"/>
            </a:avLst>
          </a:prstGeom>
          <a:solidFill>
            <a:srgbClr val="CFE0F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200" y="2212848"/>
            <a:ext cx="212140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AFFECTED = 1 · refresco 2012</a:t>
            </a:r>
            <a:endParaRPr lang="en-US" sz="86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377440"/>
            <a:ext cx="2121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Nacidos mar–nov 2010: en gestación el 27-F. Primera entrevista en 2012.</a:t>
            </a:r>
            <a:endParaRPr lang="en-US" sz="740" dirty="0"/>
          </a:p>
        </p:txBody>
      </p:sp>
      <p:sp>
        <p:nvSpPr>
          <p:cNvPr id="32" name="Shape 30"/>
          <p:cNvSpPr/>
          <p:nvPr/>
        </p:nvSpPr>
        <p:spPr>
          <a:xfrm>
            <a:off x="5554248" y="2345436"/>
            <a:ext cx="228600" cy="228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65628" y="2093976"/>
            <a:ext cx="1005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4891308" y="2606040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i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· corto</a:t>
            </a:r>
            <a:endParaRPr lang="en-US" sz="720" dirty="0"/>
          </a:p>
        </p:txBody>
      </p:sp>
      <p:sp>
        <p:nvSpPr>
          <p:cNvPr id="35" name="Shape 33"/>
          <p:cNvSpPr/>
          <p:nvPr/>
        </p:nvSpPr>
        <p:spPr>
          <a:xfrm>
            <a:off x="7911114" y="2345436"/>
            <a:ext cx="228600" cy="228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522494" y="2093976"/>
            <a:ext cx="1005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6–7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7248174" y="2606040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i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mediano</a:t>
            </a:r>
            <a:endParaRPr lang="en-US" sz="720" dirty="0"/>
          </a:p>
        </p:txBody>
      </p:sp>
      <p:sp>
        <p:nvSpPr>
          <p:cNvPr id="38" name="Text 36"/>
          <p:cNvSpPr txBox="1"/>
          <p:nvPr/>
        </p:nvSpPr>
        <p:spPr>
          <a:xfrm>
            <a:off x="11113298" y="2304288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5008626" y="3035808"/>
            <a:ext cx="6649974" cy="256032"/>
          </a:xfrm>
          <a:prstGeom prst="roundRect">
            <a:avLst>
              <a:gd name="adj" fmla="val 25000"/>
            </a:avLst>
          </a:prstGeom>
          <a:solidFill>
            <a:srgbClr val="D2EBDD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7200" y="2916936"/>
            <a:ext cx="212140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0E7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AFFECTED = 0 · refresco 2012</a:t>
            </a:r>
            <a:endParaRPr lang="en-US" sz="86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3081528"/>
            <a:ext cx="2121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Nacidos 2011: concebidos DESPUÉS del 27-F. Primera entrevista en 2012, de bebés.</a:t>
            </a:r>
            <a:endParaRPr lang="en-US" sz="740" dirty="0"/>
          </a:p>
        </p:txBody>
      </p:sp>
      <p:sp>
        <p:nvSpPr>
          <p:cNvPr id="42" name="Shape 40"/>
          <p:cNvSpPr/>
          <p:nvPr/>
        </p:nvSpPr>
        <p:spPr>
          <a:xfrm>
            <a:off x="5586252" y="3081528"/>
            <a:ext cx="164592" cy="164592"/>
          </a:xfrm>
          <a:prstGeom prst="ellipse">
            <a:avLst/>
          </a:prstGeom>
          <a:solidFill>
            <a:srgbClr val="FFFFFF"/>
          </a:solidFill>
          <a:ln w="22225">
            <a:solidFill>
              <a:srgbClr val="1BAF7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165628" y="2798064"/>
            <a:ext cx="1005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7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0–1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4891308" y="3310128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i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(sin tests: bebés)</a:t>
            </a:r>
            <a:endParaRPr lang="en-US" sz="720" dirty="0"/>
          </a:p>
        </p:txBody>
      </p:sp>
      <p:sp>
        <p:nvSpPr>
          <p:cNvPr id="45" name="Shape 43"/>
          <p:cNvSpPr/>
          <p:nvPr/>
        </p:nvSpPr>
        <p:spPr>
          <a:xfrm>
            <a:off x="7911114" y="3049524"/>
            <a:ext cx="228600" cy="228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522494" y="2798064"/>
            <a:ext cx="1005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7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5–6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7248174" y="3310128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i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</a:t>
            </a:r>
            <a:endParaRPr lang="en-US" sz="720" dirty="0"/>
          </a:p>
        </p:txBody>
      </p:sp>
      <p:sp>
        <p:nvSpPr>
          <p:cNvPr id="48" name="Text 46"/>
          <p:cNvSpPr txBox="1"/>
          <p:nvPr/>
        </p:nvSpPr>
        <p:spPr>
          <a:xfrm>
            <a:off x="11113298" y="3008376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5479999" y="3739896"/>
            <a:ext cx="6178601" cy="256032"/>
          </a:xfrm>
          <a:prstGeom prst="roundRect">
            <a:avLst>
              <a:gd name="adj" fmla="val 25000"/>
            </a:avLst>
          </a:prstGeom>
          <a:solidFill>
            <a:srgbClr val="D2EBDD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57200" y="3621024"/>
            <a:ext cx="212140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0E7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AFFECTED = 0 · refresco 2017</a:t>
            </a:r>
            <a:endParaRPr lang="en-US" sz="860" dirty="0"/>
          </a:p>
        </p:txBody>
      </p:sp>
      <p:sp>
        <p:nvSpPr>
          <p:cNvPr id="51" name="Text 49"/>
          <p:cNvSpPr txBox="1"/>
          <p:nvPr/>
        </p:nvSpPr>
        <p:spPr>
          <a:xfrm>
            <a:off x="457200" y="3785616"/>
            <a:ext cx="2121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Nacidos 2012–2015. Primera (y única) entrevista en 2017.</a:t>
            </a:r>
            <a:endParaRPr lang="en-US" sz="740" dirty="0"/>
          </a:p>
        </p:txBody>
      </p:sp>
      <p:sp>
        <p:nvSpPr>
          <p:cNvPr id="52" name="Shape 50"/>
          <p:cNvSpPr/>
          <p:nvPr/>
        </p:nvSpPr>
        <p:spPr>
          <a:xfrm>
            <a:off x="7911114" y="3753612"/>
            <a:ext cx="228600" cy="228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522494" y="3502152"/>
            <a:ext cx="1005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7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2–5</a:t>
            </a:r>
            <a:endParaRPr lang="en-US" sz="900" dirty="0"/>
          </a:p>
        </p:txBody>
      </p:sp>
      <p:sp>
        <p:nvSpPr>
          <p:cNvPr id="54" name="Text 52"/>
          <p:cNvSpPr txBox="1"/>
          <p:nvPr/>
        </p:nvSpPr>
        <p:spPr>
          <a:xfrm>
            <a:off x="7248174" y="4014216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i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· control</a:t>
            </a:r>
            <a:endParaRPr lang="en-US" sz="720" dirty="0"/>
          </a:p>
        </p:txBody>
      </p:sp>
      <p:sp>
        <p:nvSpPr>
          <p:cNvPr id="55" name="Text 53"/>
          <p:cNvSpPr txBox="1"/>
          <p:nvPr/>
        </p:nvSpPr>
        <p:spPr>
          <a:xfrm>
            <a:off x="11113298" y="3712464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363490" y="405079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re-entrevistados en 2024</a:t>
            </a:r>
            <a:endParaRPr lang="en-US" sz="750" dirty="0"/>
          </a:p>
        </p:txBody>
      </p:sp>
      <p:sp>
        <p:nvSpPr>
          <p:cNvPr id="57" name="Text 55"/>
          <p:cNvSpPr txBox="1"/>
          <p:nvPr/>
        </p:nvSpPr>
        <p:spPr>
          <a:xfrm>
            <a:off x="2651760" y="4334256"/>
            <a:ext cx="9052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i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barras empiezan al NACER. Anillo = primera entrevista sin test utilizable; punto lleno = test que usa la regresión. Las respuestas de la ola 2010 NO se usan como outcome (solo línea base y test de atrición). Ventana fina: fila 2 vs fila 3, 12 meses aparte (Gillmore C.31: −0,25 DE).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457200" y="4754880"/>
            <a:ext cx="3630168" cy="1481328"/>
          </a:xfrm>
          <a:prstGeom prst="roundRect">
            <a:avLst>
              <a:gd name="adj" fmla="val 4321"/>
            </a:avLst>
          </a:prstGeom>
          <a:solidFill>
            <a:srgbClr val="EDF3FC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03504" y="4846320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CORTO PLAZO · 2 años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603504" y="5084064"/>
            <a:ext cx="3337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Filas 1–2 medidas en la ola 2012 (2–6) vs. filas 3–4 medidas en la ola 2017 (2–6): misma edad, distinta ola — la absorbe ηw.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4270248" y="4754880"/>
            <a:ext cx="3630168" cy="1481328"/>
          </a:xfrm>
          <a:prstGeom prst="roundRect">
            <a:avLst>
              <a:gd name="adj" fmla="val 4321"/>
            </a:avLst>
          </a:prstGeom>
          <a:solidFill>
            <a:srgbClr val="EDF3FC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416552" y="4846320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MEDIANO PLAZO · 7 años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4416552" y="5084064"/>
            <a:ext cx="3337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Filas 1–2 (6–12) vs. filas 3–4 (2–6), todos en la ola 2017: misma ola, distinta edad — tests normados por edad.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8083296" y="4754880"/>
            <a:ext cx="3630168" cy="1481328"/>
          </a:xfrm>
          <a:prstGeom prst="roundRect">
            <a:avLst>
              <a:gd name="adj" fmla="val 4321"/>
            </a:avLst>
          </a:prstGeom>
          <a:solidFill>
            <a:srgbClr val="FDE8DC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8229600" y="4846320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LARGO PLAZO · 14 años (nuestro)</a:t>
            </a:r>
            <a:endParaRPr lang="en-US" sz="1000" dirty="0"/>
          </a:p>
        </p:txBody>
      </p:sp>
      <p:sp>
        <p:nvSpPr>
          <p:cNvPr id="66" name="Text 64"/>
          <p:cNvSpPr txBox="1"/>
          <p:nvPr/>
        </p:nvSpPr>
        <p:spPr>
          <a:xfrm>
            <a:off x="8229600" y="5084064"/>
            <a:ext cx="3337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la fila 1 llega a 2024 (14–18). El control se importa de la ola 2017 (CBCL2, TVIP); para PHQ/GAD no existe en ninguna ola.</a:t>
            </a:r>
            <a:endParaRPr lang="en-US" sz="900" dirty="0"/>
          </a:p>
        </p:txBody>
      </p:sp>
      <p:sp>
        <p:nvSpPr>
          <p:cNvPr id="67" name="Text 65"/>
          <p:cNvSpPr txBox="1"/>
          <p:nvPr/>
        </p:nvSpPr>
        <p:spPr>
          <a:xfrm>
            <a:off x="457200" y="6528816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Estructura muestral según ap. T3–T4 de Gillmore (EER 2026) y microdato ELPI. ηw = efecto fijo de ola de la ec. (1).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ELPI and the 27-F design</dc:title>
  <dc:subject>PptxGenJS Presentation</dc:subject>
  <dc:creator>ELPI project</dc:creator>
  <cp:lastModifiedBy>ELPI project</cp:lastModifiedBy>
  <cp:revision>1</cp:revision>
  <dcterms:created xsi:type="dcterms:W3CDTF">2026-09-22T15:12:44Z</dcterms:created>
  <dcterms:modified xsi:type="dcterms:W3CDTF">2026-09-22T15:12:44Z</dcterms:modified>
</cp:coreProperties>
</file>