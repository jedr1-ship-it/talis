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ELPI overview: survey design facts on top; eight variable domains with instruments and wave coverage. All coverage claims verified against the microdata and codebooks in the TALIS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questions, child side: evaluator-administered tests (TVIP, Hearts &amp; Flowers, digit span), the 2024 self-completed adolescent module (PHQ-2 d4_1, GAD-2 d4_3, ACEs aces_2/aces_10, tobacco g11, alcohol g12_frec, cyberbullying g2_3, GPA e3_asiste), and 2017 child self-reports (d13, b17).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questions, caregiver side: separation timing (m1/p1), pregnancy retrospectives (b8, b36), mental-health scales (CES-D, PSCS, EPDS incl. suicidal-thoughts flag, PSI), discipline reported (pc4, pc5) and HOME observed (h11), the 2012 earthquake module (h3, h4, h5), income (y1) and Chile Crece Contigo (f27/f29).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to scale. Blue = original 2010 cohort (15,175 -&gt; 12,898 -&gt; 10,230 -&gt; 10,003; 85.0% / 79.3% / 97.8% between-wave retention; 34.1% cumulative attrition). Gray = refresh samples (2012: +3,135; 2017: +2,142 re-interviewed + 4,935 new), not followed in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 slide typeset in LaTeX (Beamer, Computer Modern) and embedded as a full-bleed image; source gillmore_spec.tex in the repo. Eq. (2.1) verbatim from the dissertation chapter; identification incl. lower-bound argument; validity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4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ELPI: Chile’s national child cohort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Longitudinal de Primera Infancia — a birth-cohort panel following the same children from infancy to adolescence: caregiver interviews plus standardized child assessments administered in the home. Public microdata and codebooks (Ministry of Social Development).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2619756" cy="896112"/>
          </a:xfrm>
          <a:prstGeom prst="roundRect">
            <a:avLst>
              <a:gd name="adj" fmla="val 6122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85216" y="147218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15,175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8288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enrolled in 2010; representative of the 2006–09 birth cohorts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3342132" y="1426464"/>
            <a:ext cx="2619756" cy="896112"/>
          </a:xfrm>
          <a:prstGeom prst="roundRect">
            <a:avLst>
              <a:gd name="adj" fmla="val 6122"/>
            </a:avLst>
          </a:prstGeom>
          <a:solidFill>
            <a:srgbClr val="ED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0148" y="147218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waves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470148" y="18288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 · 2012 · 2017 · 2024, plus refresh samples in 2012 and 2017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27064" y="1426464"/>
            <a:ext cx="2619756" cy="896112"/>
          </a:xfrm>
          <a:prstGeom prst="roundRect">
            <a:avLst>
              <a:gd name="adj" fmla="val 6122"/>
            </a:avLst>
          </a:prstGeom>
          <a:solidFill>
            <a:srgbClr val="EDF3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47218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0–4 → 14–18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8288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covered — the same children from cradle to adolescence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111996" y="1426464"/>
            <a:ext cx="2619756" cy="896112"/>
          </a:xfrm>
          <a:prstGeom prst="roundRect">
            <a:avLst>
              <a:gd name="adj" fmla="val 6122"/>
            </a:avLst>
          </a:prstGeom>
          <a:solidFill>
            <a:srgbClr val="EDF3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40012" y="147218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folio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240012" y="18288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child-level ID links every wave; comuna strata &amp; longitudinal weights</a:t>
            </a:r>
            <a:endParaRPr lang="en-US" sz="86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6888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 — EVERY DOMAIN OF THE CHILD’S LIFE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61488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" y="288036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967228"/>
            <a:ext cx="192024" cy="19202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42416" y="2880360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skills</a:t>
            </a:r>
            <a:endParaRPr lang="en-US" sz="1160" dirty="0"/>
          </a:p>
        </p:txBody>
      </p:sp>
      <p:sp>
        <p:nvSpPr>
          <p:cNvPr id="21" name="Text 18"/>
          <p:cNvSpPr txBox="1"/>
          <p:nvPr/>
        </p:nvSpPr>
        <p:spPr>
          <a:xfrm>
            <a:off x="603504" y="3328416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TVIP/Peabody vocabulary in all 4 waves · EEDP &amp; TADI infant development · Battelle screening · Woodcock-Muñoz · digit span &amp; Hearts-and-Flowers (executive function)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3342132" y="2761488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0148" y="288036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967228"/>
            <a:ext cx="192024" cy="19202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927348" y="2880360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Non-cognitive skills</a:t>
            </a:r>
            <a:endParaRPr lang="en-US" sz="1160" dirty="0"/>
          </a:p>
        </p:txBody>
      </p:sp>
      <p:sp>
        <p:nvSpPr>
          <p:cNvPr id="26" name="Text 22"/>
          <p:cNvSpPr txBox="1"/>
          <p:nvPr/>
        </p:nvSpPr>
        <p:spPr>
          <a:xfrm>
            <a:off x="3488436" y="3328416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CBCL socio-emotional problem-behavior scales in every wave (internalizing &amp; externalizing syndromes) · ASQ:SE screening (2010–17)</a:t>
            </a:r>
            <a:endParaRPr lang="en-US" sz="920" dirty="0"/>
          </a:p>
        </p:txBody>
      </p:sp>
      <p:sp>
        <p:nvSpPr>
          <p:cNvPr id="27" name="Shape 23"/>
          <p:cNvSpPr/>
          <p:nvPr/>
        </p:nvSpPr>
        <p:spPr>
          <a:xfrm>
            <a:off x="6227064" y="2761488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55080" y="288036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2967228"/>
            <a:ext cx="192024" cy="19202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812280" y="2880360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&amp; risk (14–18)</a:t>
            </a:r>
            <a:endParaRPr lang="en-US" sz="1160" dirty="0"/>
          </a:p>
        </p:txBody>
      </p:sp>
      <p:sp>
        <p:nvSpPr>
          <p:cNvPr id="31" name="Text 26"/>
          <p:cNvSpPr txBox="1"/>
          <p:nvPr/>
        </p:nvSpPr>
        <p:spPr>
          <a:xfrm>
            <a:off x="6373368" y="3328416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PHQ-2 depression &amp; GAD-2 anxiety screens · 10-item ACEs battery · smoking, alcohol &amp; drug use · self-reported GPA (2024)</a:t>
            </a:r>
            <a:endParaRPr lang="en-US" sz="920" dirty="0"/>
          </a:p>
        </p:txBody>
      </p:sp>
      <p:sp>
        <p:nvSpPr>
          <p:cNvPr id="32" name="Shape 27"/>
          <p:cNvSpPr/>
          <p:nvPr/>
        </p:nvSpPr>
        <p:spPr>
          <a:xfrm>
            <a:off x="9111996" y="2761488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240012" y="288036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967228"/>
            <a:ext cx="192024" cy="19202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697212" y="2880360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growth</a:t>
            </a:r>
            <a:endParaRPr lang="en-US" sz="1160" dirty="0"/>
          </a:p>
        </p:txBody>
      </p:sp>
      <p:sp>
        <p:nvSpPr>
          <p:cNvPr id="36" name="Text 30"/>
          <p:cNvSpPr txBox="1"/>
          <p:nvPr/>
        </p:nvSpPr>
        <p:spPr>
          <a:xfrm>
            <a:off x="9258300" y="3328416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 weight &amp; gestational age · measured height/weight with WHO z-scores (2010–17) · maternal smoking in pregnancy · breastfeeding</a:t>
            </a:r>
            <a:endParaRPr lang="en-US" sz="920" dirty="0"/>
          </a:p>
        </p:txBody>
      </p:sp>
      <p:sp>
        <p:nvSpPr>
          <p:cNvPr id="37" name="Shape 31"/>
          <p:cNvSpPr/>
          <p:nvPr/>
        </p:nvSpPr>
        <p:spPr>
          <a:xfrm>
            <a:off x="457200" y="4736592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85216" y="4855464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942332"/>
            <a:ext cx="192024" cy="19202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42416" y="48554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childcare</a:t>
            </a:r>
            <a:endParaRPr lang="en-US" sz="1160" dirty="0"/>
          </a:p>
        </p:txBody>
      </p:sp>
      <p:sp>
        <p:nvSpPr>
          <p:cNvPr id="41" name="Text 34"/>
          <p:cNvSpPr txBox="1"/>
          <p:nvPr/>
        </p:nvSpPr>
        <p:spPr>
          <a:xfrm>
            <a:off x="603504" y="5303520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Childcare &amp; preschool histories from birth · enrollment, grade &amp; school type in every wave · maternal schooling</a:t>
            </a:r>
            <a:endParaRPr lang="en-US" sz="920" dirty="0"/>
          </a:p>
        </p:txBody>
      </p:sp>
      <p:sp>
        <p:nvSpPr>
          <p:cNvPr id="42" name="Shape 35"/>
          <p:cNvSpPr/>
          <p:nvPr/>
        </p:nvSpPr>
        <p:spPr>
          <a:xfrm>
            <a:off x="3342132" y="4736592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470148" y="4855464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942332"/>
            <a:ext cx="192024" cy="19202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3927348" y="48554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structure</a:t>
            </a:r>
            <a:endParaRPr lang="en-US" sz="1160" dirty="0"/>
          </a:p>
        </p:txBody>
      </p:sp>
      <p:sp>
        <p:nvSpPr>
          <p:cNvPr id="46" name="Text 38"/>
          <p:cNvSpPr txBox="1"/>
          <p:nvPr/>
        </p:nvSpPr>
        <p:spPr>
          <a:xfrm>
            <a:off x="3488436" y="5303520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household roster each wave · marriage, divorce &amp; separation — incl. child’s age when a parent left the home · father presence</a:t>
            </a:r>
            <a:endParaRPr lang="en-US" sz="920" dirty="0"/>
          </a:p>
        </p:txBody>
      </p:sp>
      <p:sp>
        <p:nvSpPr>
          <p:cNvPr id="47" name="Shape 39"/>
          <p:cNvSpPr/>
          <p:nvPr/>
        </p:nvSpPr>
        <p:spPr>
          <a:xfrm>
            <a:off x="6227064" y="4736592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355080" y="4855464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4942332"/>
            <a:ext cx="192024" cy="19202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812280" y="48554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Parenting &amp; home environment</a:t>
            </a:r>
            <a:endParaRPr lang="en-US" sz="1160" dirty="0"/>
          </a:p>
        </p:txBody>
      </p:sp>
      <p:sp>
        <p:nvSpPr>
          <p:cNvPr id="51" name="Text 42"/>
          <p:cNvSpPr txBox="1"/>
          <p:nvPr/>
        </p:nvSpPr>
        <p:spPr>
          <a:xfrm>
            <a:off x="6373368" y="5303520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inventory (observed 2012 / reported 2017) · discipline &amp; parenting practices · parental involvement &amp; self-efficacy</a:t>
            </a:r>
            <a:endParaRPr lang="en-US" sz="920" dirty="0"/>
          </a:p>
        </p:txBody>
      </p:sp>
      <p:sp>
        <p:nvSpPr>
          <p:cNvPr id="52" name="Shape 43"/>
          <p:cNvSpPr/>
          <p:nvPr/>
        </p:nvSpPr>
        <p:spPr>
          <a:xfrm>
            <a:off x="9111996" y="4736592"/>
            <a:ext cx="261975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12700" dir="5400000">
              <a:srgbClr val="D9D8D2">
                <a:alpha val="35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9240012" y="4855464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4942332"/>
            <a:ext cx="192024" cy="192024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697212" y="48554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&amp; household</a:t>
            </a:r>
            <a:endParaRPr lang="en-US" sz="1160" dirty="0"/>
          </a:p>
        </p:txBody>
      </p:sp>
      <p:sp>
        <p:nvSpPr>
          <p:cNvPr id="56" name="Text 46"/>
          <p:cNvSpPr txBox="1"/>
          <p:nvPr/>
        </p:nvSpPr>
        <p:spPr>
          <a:xfrm>
            <a:off x="9258300" y="5303520"/>
            <a:ext cx="23271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depression (EPDS, CES-D) &amp; parental stress (PSI) · work histories by child’s age · income · Chile Crece Contigo · 27-F earthquake module (2012)</a:t>
            </a:r>
            <a:endParaRPr lang="en-US" sz="920" dirty="0"/>
          </a:p>
        </p:txBody>
      </p:sp>
      <p:sp>
        <p:nvSpPr>
          <p:cNvPr id="57" name="Text 47"/>
          <p:cNvSpPr txBox="1"/>
          <p:nvPr/>
        </p:nvSpPr>
        <p:spPr>
          <a:xfrm>
            <a:off x="457200" y="652881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ELPI public microdata &amp; codebooks, waves 2010–2024 — observatorio.ministeriodesarrollosocial.gob.cl (instrument coverage by wave in parentheses).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4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 the child — verbatim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tests administered by a trained evaluator — and, from 2024, a sensitive module the adolescent answers alone. Quotes are verbatim from the official microdata (variable labels), sic.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25296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EVALUATOR, WITH THE CHILD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703320" cy="786384"/>
          </a:xfrm>
          <a:prstGeom prst="roundRect">
            <a:avLst>
              <a:gd name="adj" fmla="val 6977"/>
            </a:avLst>
          </a:prstGeom>
          <a:solidFill>
            <a:srgbClr val="ED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" y="155448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TVIP · all four waves</a:t>
            </a:r>
            <a:endParaRPr lang="en-US" sz="103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773936"/>
            <a:ext cx="3447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hears a word and points to 1 of 4 pictures — receptive vocabulary (Peabody, Hispanic norms).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242816" y="1481328"/>
            <a:ext cx="3703320" cy="786384"/>
          </a:xfrm>
          <a:prstGeom prst="roundRect">
            <a:avLst>
              <a:gd name="adj" fmla="val 6977"/>
            </a:avLst>
          </a:prstGeom>
          <a:solidFill>
            <a:srgbClr val="ED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70832" y="155448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“Juego del Corazón / de la Flor” · 2017</a:t>
            </a:r>
            <a:endParaRPr lang="en-US" sz="1030" dirty="0"/>
          </a:p>
        </p:txBody>
      </p:sp>
      <p:sp>
        <p:nvSpPr>
          <p:cNvPr id="10" name="Text 8"/>
          <p:cNvSpPr txBox="1"/>
          <p:nvPr/>
        </p:nvSpPr>
        <p:spPr>
          <a:xfrm>
            <a:off x="4370832" y="1773936"/>
            <a:ext cx="3447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Hearts &amp; Flowers: computerized inhibition task — % correct and reaction times (executive function).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028432" y="1481328"/>
            <a:ext cx="3703320" cy="786384"/>
          </a:xfrm>
          <a:prstGeom prst="roundRect">
            <a:avLst>
              <a:gd name="adj" fmla="val 6977"/>
            </a:avLst>
          </a:prstGeom>
          <a:solidFill>
            <a:srgbClr val="EDF3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56448" y="155448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digit span · 2012–17</a:t>
            </a:r>
            <a:endParaRPr lang="en-US" sz="103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1773936"/>
            <a:ext cx="3447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repeats digit strings in reverse order — working memory.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323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ADOLESCENT ANSWERS ALONE — SELF-COMPLETED MODULE, 2024 (AGES 14–18)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2491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“¿Te has sentido bajoneado(a), deprimido(a), irritable o desesperanzado(a)?”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08960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d4_1 · PHQ-2, depression screen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72491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“¿Te has sentido muy nervioso(a), angustiado(a) o con los nervios de punta?”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3108960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d4_3 · GAD-2, anxiety screen</a:t>
            </a:r>
            <a:endParaRPr lang="en-US" sz="78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0156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 presenciado peleas o amenazas entre los integrantes del hogar”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85616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aces_2 · adverse childhood experiences (ACEs)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6291072" y="340156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“Vivió o vive con personas que tenían un problema de consumo excesivo de alcohol, drogas o medicinas”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3785616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aces_10 · adverse childhood experiences (ACEs)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78224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“¿Has fumado cigarrillos de tabaco alguna vez en los últimos 12 meses?”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62272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g11 · tobacco use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4078224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“¿Cuántos días consumiste alcohol la semana pasada?”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4462272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g12_frec · alcohol use</a:t>
            </a:r>
            <a:endParaRPr lang="en-US" sz="78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54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“¿En los últimos 12 meses has recibido llamadas al celular insultantes o amenazantes?”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13892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g2_3 · cyberbullying / victimization</a:t>
            </a:r>
            <a:endParaRPr lang="en-US" sz="78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4754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“¿Qué promedio de notas tuviste el año pasado?”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91072" y="513892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e3_asiste · self-reported GPA (Chilean 1–7 scale)</a:t>
            </a:r>
            <a:endParaRPr lang="en-US" sz="78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50468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ALREADY AT AGES 8–12 — THE CHILD SELF-REPORTS (2017)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57607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“¿Piensas que en tu colegio hay estudiantes que fuman cigarrillos…?”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14476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d13 · child questionnaire, risk environment at school</a:t>
            </a:r>
            <a:endParaRPr lang="en-US" sz="78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57607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 la última semana, ¿tú y alguien de tu familia leyeron juntos libros…?”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614476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b17 · child questionnaire, family reading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2881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variable labels from the ELPI public microdata; 2010–12 files store labels truncated at 80 characters (ellipses). Bracketed terms replace questionnaire placeholders.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4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 the caregiver — verbatim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caregiver (usually the mother) is interviewed at home in every wave — retrospective pregnancy modules, screened mental-health scales, observed parenting, income, programs, and a dedicated 27-F module in 2012.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1367028"/>
            <a:ext cx="137160" cy="137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1298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structure &amp; separation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75488" y="16276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“¿Qué edad tenía [el/la adolescente] cuando la madre dejó de vivir con él(ella)?”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2011680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2024 (also 2017; asked for mother and father) · separation timing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2372868"/>
            <a:ext cx="137160" cy="1371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1248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Pregnancy &amp; birth (retrospective)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75488" y="26334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“Durante el embarazo del(de la) niño(a) seleccionado(a), ¿fumó cigarrillos?”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75488" y="285292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b8 · 2012 (also 2010 g7a) · smoking in pregnancy</a:t>
            </a:r>
            <a:endParaRPr lang="en-US" sz="780" dirty="0"/>
          </a:p>
        </p:txBody>
      </p:sp>
      <p:sp>
        <p:nvSpPr>
          <p:cNvPr id="14" name="Text 10"/>
          <p:cNvSpPr txBox="1"/>
          <p:nvPr/>
        </p:nvSpPr>
        <p:spPr>
          <a:xfrm>
            <a:off x="475488" y="30358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“¿El embarazo del(de la) niño(a) seleccionado(a) fue planificado?”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" y="325526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b36 · 2012 · planned pregnancy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457200" y="3547872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3616452"/>
            <a:ext cx="137160" cy="1371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mental health (screened scales)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75488" y="387705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 sentí deprimido/a — Sentí que todo lo que hacía me costaba un gran esfuerzo”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75488" y="426110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cesd_p1d / cesd_p1e · CES-D-10 depression, 2017 &amp; 2024</a:t>
            </a:r>
            <a:endParaRPr lang="en-US" sz="780" dirty="0"/>
          </a:p>
        </p:txBody>
      </p:sp>
      <p:sp>
        <p:nvSpPr>
          <p:cNvPr id="21" name="Text 16"/>
          <p:cNvSpPr txBox="1"/>
          <p:nvPr/>
        </p:nvSpPr>
        <p:spPr>
          <a:xfrm>
            <a:off x="475488" y="444398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“Ser cuidador/a me pone tenso/a y ansioso/a”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75488" y="4663440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pscs_p16 · parental self-efficacy scale (PSCS), 2017 &amp; 2024</a:t>
            </a:r>
            <a:endParaRPr lang="en-US" sz="780" dirty="0"/>
          </a:p>
        </p:txBody>
      </p:sp>
      <p:sp>
        <p:nvSpPr>
          <p:cNvPr id="23" name="Text 18"/>
          <p:cNvSpPr txBox="1"/>
          <p:nvPr/>
        </p:nvSpPr>
        <p:spPr>
          <a:xfrm>
            <a:off x="475488" y="4846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“EPDS postpartum depression score — incl. a ‘Pensamientos Suicidas’ flag”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75488" y="506577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epds_pb / epds_ps · 2012 · plus Parental Stress Index (PSI) 2012–2024</a:t>
            </a:r>
            <a:endParaRPr lang="en-US" sz="780" dirty="0"/>
          </a:p>
        </p:txBody>
      </p:sp>
      <p:sp>
        <p:nvSpPr>
          <p:cNvPr id="25" name="Shape 20"/>
          <p:cNvSpPr/>
          <p:nvPr/>
        </p:nvSpPr>
        <p:spPr>
          <a:xfrm>
            <a:off x="457200" y="5358384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5426964"/>
            <a:ext cx="137160" cy="1371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41248" y="5358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economy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475488" y="56875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 [mes pasado], ¿cuál fue el ingreso de [nombre] proveniente de su o sus trabajos, ocupación o actividad?”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475488" y="607161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· 2024 · income module y1–y5, per household member</a:t>
            </a:r>
            <a:endParaRPr lang="en-US" sz="780" dirty="0"/>
          </a:p>
        </p:txBody>
      </p:sp>
      <p:sp>
        <p:nvSpPr>
          <p:cNvPr id="30" name="Shape 24"/>
          <p:cNvSpPr/>
          <p:nvPr/>
        </p:nvSpPr>
        <p:spPr>
          <a:xfrm>
            <a:off x="6291072" y="129844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1367028"/>
            <a:ext cx="137160" cy="1371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675120" y="1298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Parenting — reported and observed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6309360" y="16276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 dio una palmada o cachetada en alguna parte del cuerpo”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309360" y="184708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pc4_6 · 2024 · discipline in the last month (also 2012 f20c–g)</a:t>
            </a:r>
            <a:endParaRPr lang="en-US" sz="780" dirty="0"/>
          </a:p>
        </p:txBody>
      </p:sp>
      <p:sp>
        <p:nvSpPr>
          <p:cNvPr id="35" name="Text 28"/>
          <p:cNvSpPr txBox="1"/>
          <p:nvPr/>
        </p:nvSpPr>
        <p:spPr>
          <a:xfrm>
            <a:off x="6309360" y="20299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“¿Cree usted que para criar o educar correctamente a un adolescente, se le debe castigar físicamente?”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309360" y="241401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pc5 · 2024 · attitudes toward corporal punishment</a:t>
            </a:r>
            <a:endParaRPr lang="en-US" sz="780" dirty="0"/>
          </a:p>
        </p:txBody>
      </p:sp>
      <p:sp>
        <p:nvSpPr>
          <p:cNvPr id="37" name="Text 30"/>
          <p:cNvSpPr txBox="1"/>
          <p:nvPr/>
        </p:nvSpPr>
        <p:spPr>
          <a:xfrm>
            <a:off x="6309360" y="259689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 Madre o tutora lee historias al(a la) niño(a), al menos tres veces a la…”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309360" y="281635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h11 · 2010 · HOME inventory — marked by the evaluator observing the home</a:t>
            </a:r>
            <a:endParaRPr lang="en-US" sz="780" dirty="0"/>
          </a:p>
        </p:txBody>
      </p:sp>
      <p:sp>
        <p:nvSpPr>
          <p:cNvPr id="39" name="Shape 32"/>
          <p:cNvSpPr/>
          <p:nvPr/>
        </p:nvSpPr>
        <p:spPr>
          <a:xfrm>
            <a:off x="6291072" y="3108960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52" y="3177540"/>
            <a:ext cx="137160" cy="13716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67512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27-F earthquake module (2012)</a:t>
            </a:r>
            <a:endParaRPr lang="en-US" sz="1150" dirty="0"/>
          </a:p>
        </p:txBody>
      </p:sp>
      <p:sp>
        <p:nvSpPr>
          <p:cNvPr id="42" name="Text 34"/>
          <p:cNvSpPr txBox="1"/>
          <p:nvPr/>
        </p:nvSpPr>
        <p:spPr>
          <a:xfrm>
            <a:off x="6309360" y="343814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“Producto del terremoto/tsunami, ¿la vivienda que habitaba el(la) niño(a)…?”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6309360" y="3657600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housing damage</a:t>
            </a:r>
            <a:endParaRPr lang="en-US" sz="780" dirty="0"/>
          </a:p>
        </p:txBody>
      </p:sp>
      <p:sp>
        <p:nvSpPr>
          <p:cNvPr id="44" name="Text 36"/>
          <p:cNvSpPr txBox="1"/>
          <p:nvPr/>
        </p:nvSpPr>
        <p:spPr>
          <a:xfrm>
            <a:off x="6309360" y="3840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“Recuerdos traumáticos del terremoto — stress/angustia/ansiedad — miedo/pánico”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6309360" y="422452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h4_2–h4_5 · post-quake symptom checklist</a:t>
            </a:r>
            <a:endParaRPr lang="en-US" sz="780" dirty="0"/>
          </a:p>
        </p:txBody>
      </p:sp>
      <p:sp>
        <p:nvSpPr>
          <p:cNvPr id="46" name="Text 38"/>
          <p:cNvSpPr txBox="1"/>
          <p:nvPr/>
        </p:nvSpPr>
        <p:spPr>
          <a:xfrm>
            <a:off x="6309360" y="44074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“¿Usted consultó a un psicólogo o psiquiatra a causa de estos síntomas?”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6309360" y="462686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· mental-health care take-up after 27-F</a:t>
            </a:r>
            <a:endParaRPr lang="en-US" sz="780" dirty="0"/>
          </a:p>
        </p:txBody>
      </p:sp>
      <p:sp>
        <p:nvSpPr>
          <p:cNvPr id="48" name="Shape 40"/>
          <p:cNvSpPr/>
          <p:nvPr/>
        </p:nvSpPr>
        <p:spPr>
          <a:xfrm>
            <a:off x="6291072" y="4919472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652" y="4988052"/>
            <a:ext cx="137160" cy="137160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675120" y="4919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&amp; the home</a:t>
            </a:r>
            <a:endParaRPr lang="en-US" sz="1150" dirty="0"/>
          </a:p>
        </p:txBody>
      </p:sp>
      <p:sp>
        <p:nvSpPr>
          <p:cNvPr id="51" name="Text 42"/>
          <p:cNvSpPr txBox="1"/>
          <p:nvPr/>
        </p:nvSpPr>
        <p:spPr>
          <a:xfrm>
            <a:off x="6309360" y="524865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“¿Conoce o ha escuchado hablar del programa Chile Crece Contigo?”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6309360" y="546811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f27 · 2012 · program awareness &amp; receipt (f29: materials received)</a:t>
            </a:r>
            <a:endParaRPr lang="en-US" sz="780" dirty="0"/>
          </a:p>
        </p:txBody>
      </p:sp>
      <p:sp>
        <p:nvSpPr>
          <p:cNvPr id="53" name="Text 44"/>
          <p:cNvSpPr txBox="1"/>
          <p:nvPr/>
        </p:nvSpPr>
        <p:spPr>
          <a:xfrm>
            <a:off x="6309360" y="565099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“¿Más o menos cuántos libros infantiles o juveniles tiene en su casa?”</a:t>
            </a:r>
            <a:endParaRPr lang="en-US" sz="1000" dirty="0"/>
          </a:p>
        </p:txBody>
      </p:sp>
      <p:sp>
        <p:nvSpPr>
          <p:cNvPr id="54" name="Text 45"/>
          <p:cNvSpPr txBox="1"/>
          <p:nvPr/>
        </p:nvSpPr>
        <p:spPr>
          <a:xfrm>
            <a:off x="6309360" y="587044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home1 · 2024 · HOME, books at home</a:t>
            </a:r>
            <a:endParaRPr lang="en-US" sz="780" dirty="0"/>
          </a:p>
        </p:txBody>
      </p:sp>
      <p:sp>
        <p:nvSpPr>
          <p:cNvPr id="55" name="Text 46"/>
          <p:cNvSpPr txBox="1"/>
          <p:nvPr/>
        </p:nvSpPr>
        <p:spPr>
          <a:xfrm>
            <a:off x="457200" y="652881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variable labels from the ELPI public microdata; 2010–12 files store labels truncated at 80 characters (ellipses). Bracketed terms replace questionnaire placeholders (%nombre%, %mes pasado%).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4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waves, one generation: sampling &amp; attrition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2010 cohort is re-interviewed in every wave; refresh samples added in 2012 and 2017 were not re-fielded in 2024.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2294213"/>
            <a:ext cx="1280160" cy="266183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49077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15,175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880360" y="2693619"/>
            <a:ext cx="1280160" cy="2262429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274848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12,898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37760" y="3161611"/>
            <a:ext cx="1280160" cy="1794437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3216475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10,230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95160" y="3201429"/>
            <a:ext cx="1280160" cy="1754619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95160" y="325629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80360" y="2143711"/>
            <a:ext cx="1280160" cy="549908"/>
          </a:xfrm>
          <a:prstGeom prst="rect">
            <a:avLst/>
          </a:prstGeom>
          <a:solidFill>
            <a:srgbClr val="C9C8B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0360" y="2318081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+3,135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937760" y="2785885"/>
            <a:ext cx="1280160" cy="375727"/>
          </a:xfrm>
          <a:prstGeom prst="rect">
            <a:avLst/>
          </a:prstGeom>
          <a:solidFill>
            <a:srgbClr val="C9C8B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8731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+2,142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937760" y="1920240"/>
            <a:ext cx="1280160" cy="865645"/>
          </a:xfrm>
          <a:prstGeom prst="rect">
            <a:avLst/>
          </a:prstGeom>
          <a:solidFill>
            <a:srgbClr val="E0DFD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25247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+4,935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190596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16,033 interviewed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17,307 interviewed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98882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85.0%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180844" y="3931920"/>
            <a:ext cx="621792" cy="219456"/>
          </a:xfrm>
          <a:prstGeom prst="rightArrow">
            <a:avLst/>
          </a:prstGeom>
          <a:solidFill>
            <a:srgbClr val="1E3D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988820" y="4206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820" dirty="0"/>
          </a:p>
        </p:txBody>
      </p:sp>
      <p:sp>
        <p:nvSpPr>
          <p:cNvPr id="23" name="Text 21"/>
          <p:cNvSpPr txBox="1"/>
          <p:nvPr/>
        </p:nvSpPr>
        <p:spPr>
          <a:xfrm>
            <a:off x="404622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79.3%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238244" y="3931920"/>
            <a:ext cx="621792" cy="219456"/>
          </a:xfrm>
          <a:prstGeom prst="rightArrow">
            <a:avLst/>
          </a:prstGeom>
          <a:solidFill>
            <a:srgbClr val="1E3D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046220" y="4206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820" dirty="0"/>
          </a:p>
        </p:txBody>
      </p:sp>
      <p:sp>
        <p:nvSpPr>
          <p:cNvPr id="26" name="Text 24"/>
          <p:cNvSpPr txBox="1"/>
          <p:nvPr/>
        </p:nvSpPr>
        <p:spPr>
          <a:xfrm>
            <a:off x="610362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95644" y="3931920"/>
            <a:ext cx="621792" cy="219456"/>
          </a:xfrm>
          <a:prstGeom prst="rightArrow">
            <a:avLst/>
          </a:prstGeom>
          <a:solidFill>
            <a:srgbClr val="1E3D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03620" y="4206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· ages 0–4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550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Infancy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5146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51460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· ages 2–6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2514600" y="5550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childhood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2017–18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 · ages 8–12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5550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childhood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4 · ages 14–18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5550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2960" y="6053328"/>
            <a:ext cx="164592" cy="16459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42416" y="6035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2010 cohort — followed in every wave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6053328"/>
            <a:ext cx="164592" cy="164592"/>
          </a:xfrm>
          <a:prstGeom prst="rect">
            <a:avLst/>
          </a:prstGeom>
          <a:solidFill>
            <a:srgbClr val="C9C8B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654296" y="60350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samples — 2012: +3,135 born 2010–11; 2017: +2,142 of them re-interviewed and +4,935 born 2015–17; none re-fielded in 2024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006840" y="15727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34.1%</a:t>
            </a:r>
            <a:endParaRPr lang="en-US" sz="4400" dirty="0"/>
          </a:p>
        </p:txBody>
      </p:sp>
      <p:sp>
        <p:nvSpPr>
          <p:cNvPr id="46" name="Text 44"/>
          <p:cNvSpPr txBox="1"/>
          <p:nvPr/>
        </p:nvSpPr>
        <p:spPr>
          <a:xfrm>
            <a:off x="9006840" y="22494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attrition of the original cohort over 14 years — 65.9% of the 2010 infants are still in the panel as adolescents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9006840" y="30540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10,003</a:t>
            </a:r>
            <a:endParaRPr lang="en-US" sz="3000" dirty="0"/>
          </a:p>
        </p:txBody>
      </p:sp>
      <p:sp>
        <p:nvSpPr>
          <p:cNvPr id="48" name="Text 46"/>
          <p:cNvSpPr txBox="1"/>
          <p:nvPr/>
        </p:nvSpPr>
        <p:spPr>
          <a:xfrm>
            <a:off x="9006840" y="35478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adolescents aged 14–18 in 2024 — every one of them enrolled as an infant in 2010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06840" y="4224528"/>
            <a:ext cx="2743200" cy="1042416"/>
          </a:xfrm>
          <a:prstGeom prst="roundRect">
            <a:avLst>
              <a:gd name="adj" fmla="val 5263"/>
            </a:avLst>
          </a:prstGeom>
          <a:solidFill>
            <a:srgbClr val="EDF3F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44000" y="433425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14-year panel: </a:t>
            </a:r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4 re-fielded only the original cohort. Balanced panel present in all four waves: </a:t>
            </a:r>
            <a:pPr algn="l" indent="0" marL="0">
              <a:buNone/>
            </a:pPr>
            <a:r>
              <a:rPr lang="en-US" sz="105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7,012 children.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52881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Counts: children interviewed per wave, by sample of origin (own tabulations from ELPI microdata via the child ID; wave-3 evaluation sample: 15,827). Attrition figure consistent with the ELPI cohort profile.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pec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ELPI and the 27-F design</dc:title>
  <dc:subject>PptxGenJS Presentation</dc:subject>
  <dc:creator>ELPI project</dc:creator>
  <cp:lastModifiedBy>ELPI project</cp:lastModifiedBy>
  <cp:revision>1</cp:revision>
  <dcterms:created xsi:type="dcterms:W3CDTF">2026-09-21T11:58:30Z</dcterms:created>
  <dcterms:modified xsi:type="dcterms:W3CDTF">2026-09-21T11:58:30Z</dcterms:modified>
</cp:coreProperties>
</file>