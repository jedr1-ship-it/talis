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ELPI overview: survey design facts on top; eight variable domains with instruments and wave coverage. All coverage claims verified against the microdata and codebooks in the TALIS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to scale. Blue = original 2010 cohort (15,175 -&gt; 12,898 -&gt; 10,230 -&gt; 10,003; 85.0% / 79.3% / 97.8% between-wave retention; 34.1% cumulative attrition). Gray = refresh samples (2012: +3,135; 2017: +2,142 re-interviewed + 4,935 new), not followed in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 slide only, per request: eq. (2.1) verbatim from the dissertation chapter; beta highlighted; definitions; identification assumption incl. lower-bound argument (footnote 3); validity checks summarized.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4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ELPI: Chile’s national child cohort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 Longitudinal de Primera Infancia — a birth-cohort panel following the same children from infancy to adolescence: caregiver interviews plus standardized child assessments administered in the home. Public microdata and codebooks (Ministry of Social Development).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2619756" cy="896112"/>
          </a:xfrm>
          <a:prstGeom prst="roundRect">
            <a:avLst>
              <a:gd name="adj" fmla="val 6122"/>
            </a:avLst>
          </a:prstGeom>
          <a:solidFill>
            <a:srgbClr val="ED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85216" y="1472184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15,175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1828800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enrolled in 2010; representative of the 2006–09 birth cohorts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3342132" y="1426464"/>
            <a:ext cx="2619756" cy="896112"/>
          </a:xfrm>
          <a:prstGeom prst="roundRect">
            <a:avLst>
              <a:gd name="adj" fmla="val 6122"/>
            </a:avLst>
          </a:prstGeom>
          <a:solidFill>
            <a:srgbClr val="ED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0148" y="1472184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waves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470148" y="1828800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 · 2012 · 2017 · 2024, plus refresh samples in 2012 and 2017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27064" y="1426464"/>
            <a:ext cx="2619756" cy="896112"/>
          </a:xfrm>
          <a:prstGeom prst="roundRect">
            <a:avLst>
              <a:gd name="adj" fmla="val 6122"/>
            </a:avLst>
          </a:prstGeom>
          <a:solidFill>
            <a:srgbClr val="EDF3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472184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0–4 → 14–18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828800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covered — the same children from cradle to adolescence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111996" y="1426464"/>
            <a:ext cx="2619756" cy="896112"/>
          </a:xfrm>
          <a:prstGeom prst="roundRect">
            <a:avLst>
              <a:gd name="adj" fmla="val 6122"/>
            </a:avLst>
          </a:prstGeom>
          <a:solidFill>
            <a:srgbClr val="EDF3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40012" y="1472184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folio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240012" y="1828800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child-level ID links every wave; comuna strata &amp; longitudinal weights</a:t>
            </a:r>
            <a:endParaRPr lang="en-US" sz="86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46888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 — EVERY DOMAIN OF THE CHILD’S LIFE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61488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" y="288036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2967228"/>
            <a:ext cx="192024" cy="19202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42416" y="2880360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skills</a:t>
            </a:r>
            <a:endParaRPr lang="en-US" sz="1160" dirty="0"/>
          </a:p>
        </p:txBody>
      </p:sp>
      <p:sp>
        <p:nvSpPr>
          <p:cNvPr id="21" name="Text 18"/>
          <p:cNvSpPr txBox="1"/>
          <p:nvPr/>
        </p:nvSpPr>
        <p:spPr>
          <a:xfrm>
            <a:off x="603504" y="3328416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TVIP/Peabody vocabulary in all 4 waves · EEDP &amp; TADI infant development · Battelle screening · Woodcock-Muñoz · digit span &amp; Hearts-and-Flowers (executive function)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3342132" y="2761488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70148" y="288036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967228"/>
            <a:ext cx="192024" cy="19202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927348" y="2880360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Non-cognitive skills</a:t>
            </a:r>
            <a:endParaRPr lang="en-US" sz="1160" dirty="0"/>
          </a:p>
        </p:txBody>
      </p:sp>
      <p:sp>
        <p:nvSpPr>
          <p:cNvPr id="26" name="Text 22"/>
          <p:cNvSpPr txBox="1"/>
          <p:nvPr/>
        </p:nvSpPr>
        <p:spPr>
          <a:xfrm>
            <a:off x="3488436" y="3328416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CBCL socio-emotional problem-behavior scales in every wave (internalizing &amp; externalizing syndromes) · ASQ:SE screening (2010–17)</a:t>
            </a:r>
            <a:endParaRPr lang="en-US" sz="920" dirty="0"/>
          </a:p>
        </p:txBody>
      </p:sp>
      <p:sp>
        <p:nvSpPr>
          <p:cNvPr id="27" name="Shape 23"/>
          <p:cNvSpPr/>
          <p:nvPr/>
        </p:nvSpPr>
        <p:spPr>
          <a:xfrm>
            <a:off x="6227064" y="2761488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355080" y="288036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48" y="2967228"/>
            <a:ext cx="192024" cy="19202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812280" y="2880360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&amp; risk (14–18)</a:t>
            </a:r>
            <a:endParaRPr lang="en-US" sz="1160" dirty="0"/>
          </a:p>
        </p:txBody>
      </p:sp>
      <p:sp>
        <p:nvSpPr>
          <p:cNvPr id="31" name="Text 26"/>
          <p:cNvSpPr txBox="1"/>
          <p:nvPr/>
        </p:nvSpPr>
        <p:spPr>
          <a:xfrm>
            <a:off x="6373368" y="3328416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PHQ-2 depression &amp; GAD-2 anxiety screens · 10-item ACEs battery · smoking, alcohol &amp; drug use · self-reported GPA (2024)</a:t>
            </a:r>
            <a:endParaRPr lang="en-US" sz="920" dirty="0"/>
          </a:p>
        </p:txBody>
      </p:sp>
      <p:sp>
        <p:nvSpPr>
          <p:cNvPr id="32" name="Shape 27"/>
          <p:cNvSpPr/>
          <p:nvPr/>
        </p:nvSpPr>
        <p:spPr>
          <a:xfrm>
            <a:off x="9111996" y="2761488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240012" y="288036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967228"/>
            <a:ext cx="192024" cy="19202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697212" y="2880360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growth</a:t>
            </a:r>
            <a:endParaRPr lang="en-US" sz="1160" dirty="0"/>
          </a:p>
        </p:txBody>
      </p:sp>
      <p:sp>
        <p:nvSpPr>
          <p:cNvPr id="36" name="Text 30"/>
          <p:cNvSpPr txBox="1"/>
          <p:nvPr/>
        </p:nvSpPr>
        <p:spPr>
          <a:xfrm>
            <a:off x="9258300" y="3328416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 weight &amp; gestational age · measured height/weight with WHO z-scores (2010–17) · maternal smoking in pregnancy · breastfeeding</a:t>
            </a:r>
            <a:endParaRPr lang="en-US" sz="920" dirty="0"/>
          </a:p>
        </p:txBody>
      </p:sp>
      <p:sp>
        <p:nvSpPr>
          <p:cNvPr id="37" name="Shape 31"/>
          <p:cNvSpPr/>
          <p:nvPr/>
        </p:nvSpPr>
        <p:spPr>
          <a:xfrm>
            <a:off x="457200" y="4736592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85216" y="4855464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4942332"/>
            <a:ext cx="192024" cy="19202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42416" y="4855464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childcare</a:t>
            </a:r>
            <a:endParaRPr lang="en-US" sz="1160" dirty="0"/>
          </a:p>
        </p:txBody>
      </p:sp>
      <p:sp>
        <p:nvSpPr>
          <p:cNvPr id="41" name="Text 34"/>
          <p:cNvSpPr txBox="1"/>
          <p:nvPr/>
        </p:nvSpPr>
        <p:spPr>
          <a:xfrm>
            <a:off x="603504" y="5303520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Childcare &amp; preschool histories from birth · enrollment, grade &amp; school type in every wave · maternal schooling</a:t>
            </a:r>
            <a:endParaRPr lang="en-US" sz="920" dirty="0"/>
          </a:p>
        </p:txBody>
      </p:sp>
      <p:sp>
        <p:nvSpPr>
          <p:cNvPr id="42" name="Shape 35"/>
          <p:cNvSpPr/>
          <p:nvPr/>
        </p:nvSpPr>
        <p:spPr>
          <a:xfrm>
            <a:off x="3342132" y="4736592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3470148" y="4855464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4942332"/>
            <a:ext cx="192024" cy="192024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3927348" y="4855464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structure</a:t>
            </a:r>
            <a:endParaRPr lang="en-US" sz="1160" dirty="0"/>
          </a:p>
        </p:txBody>
      </p:sp>
      <p:sp>
        <p:nvSpPr>
          <p:cNvPr id="46" name="Text 38"/>
          <p:cNvSpPr txBox="1"/>
          <p:nvPr/>
        </p:nvSpPr>
        <p:spPr>
          <a:xfrm>
            <a:off x="3488436" y="5303520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household roster each wave · marriage, divorce &amp; separation — incl. child’s age when a parent left the home · father presence</a:t>
            </a:r>
            <a:endParaRPr lang="en-US" sz="920" dirty="0"/>
          </a:p>
        </p:txBody>
      </p:sp>
      <p:sp>
        <p:nvSpPr>
          <p:cNvPr id="47" name="Shape 39"/>
          <p:cNvSpPr/>
          <p:nvPr/>
        </p:nvSpPr>
        <p:spPr>
          <a:xfrm>
            <a:off x="6227064" y="4736592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355080" y="4855464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4942332"/>
            <a:ext cx="192024" cy="19202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812280" y="4855464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Parenting &amp; home environment</a:t>
            </a:r>
            <a:endParaRPr lang="en-US" sz="1160" dirty="0"/>
          </a:p>
        </p:txBody>
      </p:sp>
      <p:sp>
        <p:nvSpPr>
          <p:cNvPr id="51" name="Text 42"/>
          <p:cNvSpPr txBox="1"/>
          <p:nvPr/>
        </p:nvSpPr>
        <p:spPr>
          <a:xfrm>
            <a:off x="6373368" y="5303520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inventory (observed 2012 / reported 2017) · discipline &amp; parenting practices · parental involvement &amp; self-efficacy</a:t>
            </a:r>
            <a:endParaRPr lang="en-US" sz="920" dirty="0"/>
          </a:p>
        </p:txBody>
      </p:sp>
      <p:sp>
        <p:nvSpPr>
          <p:cNvPr id="52" name="Shape 43"/>
          <p:cNvSpPr/>
          <p:nvPr/>
        </p:nvSpPr>
        <p:spPr>
          <a:xfrm>
            <a:off x="9111996" y="4736592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9240012" y="4855464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4942332"/>
            <a:ext cx="192024" cy="192024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9697212" y="4855464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 &amp; household</a:t>
            </a:r>
            <a:endParaRPr lang="en-US" sz="1160" dirty="0"/>
          </a:p>
        </p:txBody>
      </p:sp>
      <p:sp>
        <p:nvSpPr>
          <p:cNvPr id="56" name="Text 46"/>
          <p:cNvSpPr txBox="1"/>
          <p:nvPr/>
        </p:nvSpPr>
        <p:spPr>
          <a:xfrm>
            <a:off x="9258300" y="5303520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depression (EPDS, CES-D) &amp; parental stress (PSI) · work histories by child’s age · income · Chile Crece Contigo · 27-F earthquake module (2012)</a:t>
            </a:r>
            <a:endParaRPr lang="en-US" sz="920" dirty="0"/>
          </a:p>
        </p:txBody>
      </p:sp>
      <p:sp>
        <p:nvSpPr>
          <p:cNvPr id="57" name="Text 47"/>
          <p:cNvSpPr txBox="1"/>
          <p:nvPr/>
        </p:nvSpPr>
        <p:spPr>
          <a:xfrm>
            <a:off x="457200" y="6528816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ELPI public microdata &amp; codebooks, waves 2010–2024 — observatorio.ministeriodesarrollosocial.gob.cl (instrument coverage by wave in parentheses).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4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waves, one generation: sampling &amp; attrition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2010 cohort is re-interviewed in every wave; refresh samples added in 2012 and 2017 were not re-fielded in 2024.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2294213"/>
            <a:ext cx="1280160" cy="266183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49077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15,175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880360" y="2693619"/>
            <a:ext cx="1280160" cy="2262429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80360" y="274848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12,898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37760" y="3161611"/>
            <a:ext cx="1280160" cy="1794437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3216475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10,230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95160" y="3201429"/>
            <a:ext cx="1280160" cy="1754619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95160" y="325629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80360" y="2143711"/>
            <a:ext cx="1280160" cy="549908"/>
          </a:xfrm>
          <a:prstGeom prst="rect">
            <a:avLst/>
          </a:prstGeom>
          <a:solidFill>
            <a:srgbClr val="C9C8B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0360" y="2318081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+3,135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937760" y="2785885"/>
            <a:ext cx="1280160" cy="375727"/>
          </a:xfrm>
          <a:prstGeom prst="rect">
            <a:avLst/>
          </a:prstGeom>
          <a:solidFill>
            <a:srgbClr val="C9C8B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28731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+2,142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937760" y="1920240"/>
            <a:ext cx="1280160" cy="865645"/>
          </a:xfrm>
          <a:prstGeom prst="rect">
            <a:avLst/>
          </a:prstGeom>
          <a:solidFill>
            <a:srgbClr val="E0DFD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25247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+4,935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1905967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16,033 interviewed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17,307 interviewed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988820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85.0%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180844" y="3931920"/>
            <a:ext cx="621792" cy="219456"/>
          </a:xfrm>
          <a:prstGeom prst="rightArrow">
            <a:avLst/>
          </a:prstGeom>
          <a:solidFill>
            <a:srgbClr val="1E3D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988820" y="4206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820" dirty="0"/>
          </a:p>
        </p:txBody>
      </p:sp>
      <p:sp>
        <p:nvSpPr>
          <p:cNvPr id="23" name="Text 21"/>
          <p:cNvSpPr txBox="1"/>
          <p:nvPr/>
        </p:nvSpPr>
        <p:spPr>
          <a:xfrm>
            <a:off x="4046220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79.3%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238244" y="3931920"/>
            <a:ext cx="621792" cy="219456"/>
          </a:xfrm>
          <a:prstGeom prst="rightArrow">
            <a:avLst/>
          </a:prstGeom>
          <a:solidFill>
            <a:srgbClr val="1E3D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046220" y="4206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820" dirty="0"/>
          </a:p>
        </p:txBody>
      </p:sp>
      <p:sp>
        <p:nvSpPr>
          <p:cNvPr id="26" name="Text 24"/>
          <p:cNvSpPr txBox="1"/>
          <p:nvPr/>
        </p:nvSpPr>
        <p:spPr>
          <a:xfrm>
            <a:off x="6103620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95644" y="3931920"/>
            <a:ext cx="621792" cy="219456"/>
          </a:xfrm>
          <a:prstGeom prst="rightArrow">
            <a:avLst/>
          </a:prstGeom>
          <a:solidFill>
            <a:srgbClr val="1E3D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03620" y="4206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· ages 0–4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550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Infancy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2514600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514600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· ages 2–6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2514600" y="5550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childhood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2017–18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3 · ages 8–12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5550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childhood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4 · ages 14–18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5550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2960" y="6053328"/>
            <a:ext cx="164592" cy="16459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42416" y="6035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2010 cohort — followed in every wave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34840" y="6053328"/>
            <a:ext cx="164592" cy="164592"/>
          </a:xfrm>
          <a:prstGeom prst="rect">
            <a:avLst/>
          </a:prstGeom>
          <a:solidFill>
            <a:srgbClr val="C9C8B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654296" y="603504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samples — 2012: +3,135 born 2010–11; 2017: +2,142 of them re-interviewed and +4,935 born 2015–17; none re-fielded in 2024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9006840" y="15727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34.1%</a:t>
            </a:r>
            <a:endParaRPr lang="en-US" sz="4400" dirty="0"/>
          </a:p>
        </p:txBody>
      </p:sp>
      <p:sp>
        <p:nvSpPr>
          <p:cNvPr id="46" name="Text 44"/>
          <p:cNvSpPr txBox="1"/>
          <p:nvPr/>
        </p:nvSpPr>
        <p:spPr>
          <a:xfrm>
            <a:off x="9006840" y="22494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attrition of the original cohort over 14 years — 65.9% of the 2010 infants are still in the panel as adolescents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9006840" y="30540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10,003</a:t>
            </a:r>
            <a:endParaRPr lang="en-US" sz="3000" dirty="0"/>
          </a:p>
        </p:txBody>
      </p:sp>
      <p:sp>
        <p:nvSpPr>
          <p:cNvPr id="48" name="Text 46"/>
          <p:cNvSpPr txBox="1"/>
          <p:nvPr/>
        </p:nvSpPr>
        <p:spPr>
          <a:xfrm>
            <a:off x="9006840" y="35478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adolescents aged 14–18 in 2024 — every one of them enrolled as an infant in 2010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006840" y="4224528"/>
            <a:ext cx="2743200" cy="1042416"/>
          </a:xfrm>
          <a:prstGeom prst="roundRect">
            <a:avLst>
              <a:gd name="adj" fmla="val 5263"/>
            </a:avLst>
          </a:prstGeom>
          <a:solidFill>
            <a:srgbClr val="EDF3F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44000" y="433425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14-year panel: </a:t>
            </a:r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4 re-fielded only the original cohort. Balanced panel present in all four waves: </a:t>
            </a:r>
            <a:pPr algn="l" indent="0" marL="0">
              <a:buNone/>
            </a:pPr>
            <a:r>
              <a:rPr lang="en-US" sz="10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7,012 children.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528816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Counts: children interviewed per wave, by sample of origin (own tabulations from ELPI microdata via the child ID; wave-3 evaluation sample: 15,827). Attrition figure consistent with the ELPI cohort profile.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4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strategy — Gillmore (2025)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Difference-in-differences: municipal seismic intensity × birth-cohort exposure to the 2010 Chilean earthquake (27-F). “Natural Disasters and Early Child Development: Evidence from an Earthquake.”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4552" cy="969264"/>
          </a:xfrm>
          <a:prstGeom prst="roundRect">
            <a:avLst>
              <a:gd name="adj" fmla="val 6604"/>
            </a:avLst>
          </a:prstGeom>
          <a:solidFill>
            <a:srgbClr val="ED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98448"/>
            <a:ext cx="10058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ijtw</a:t>
            </a:r>
            <a:pPr algn="ctr" indent="0" marL="0">
              <a:buNone/>
            </a:pPr>
            <a:r>
              <a:rPr lang="en-US" sz="2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algn="ctr"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pPr algn="ctr" indent="0" marL="0">
              <a:buNone/>
            </a:pPr>
            <a:r>
              <a:rPr lang="en-US" sz="20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(Affected</a:t>
            </a:r>
            <a:pPr algn="ctr" indent="0" marL="0">
              <a:buNone/>
            </a:pPr>
            <a:r>
              <a:rPr lang="en-US" sz="2000" b="1" i="1" baseline="-40000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pPr algn="ctr" indent="0" marL="0">
              <a:buNone/>
            </a:pPr>
            <a:r>
              <a:rPr lang="en-US" sz="20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Mercalli</a:t>
            </a:r>
            <a:pPr algn="ctr" indent="0" marL="0">
              <a:buNone/>
            </a:pPr>
            <a:r>
              <a:rPr lang="en-US" sz="2000" b="1" i="1" baseline="-40000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ctr" indent="0" marL="0">
              <a:buNone/>
            </a:pPr>
            <a:r>
              <a:rPr lang="en-US" sz="20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algn="ctr" indent="0" marL="0">
              <a:buNone/>
            </a:pPr>
            <a:r>
              <a:rPr lang="en-US" sz="2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γ</a:t>
            </a:r>
            <a:pPr algn="ctr" indent="0" marL="0">
              <a:buNone/>
            </a:pPr>
            <a:r>
              <a:rPr lang="en-US" sz="2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Affected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pPr algn="ctr" indent="0" marL="0">
              <a:buNone/>
            </a:pPr>
            <a:r>
              <a:rPr lang="en-US" sz="2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X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ijt</a:t>
            </a:r>
            <a:pPr algn="ctr" indent="0" marL="0">
              <a:buNone/>
            </a:pPr>
            <a:r>
              <a:rPr lang="en-US" sz="2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ψ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ctr" indent="0" marL="0">
              <a:buNone/>
            </a:pPr>
            <a:r>
              <a:rPr lang="en-US" sz="2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θ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2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λ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jt</a:t>
            </a:r>
            <a:pPr algn="ctr" indent="0" marL="0">
              <a:buNone/>
            </a:pPr>
            <a:r>
              <a:rPr lang="en-US" sz="2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η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pPr algn="ctr" indent="0" marL="0">
              <a:buNone/>
            </a:pPr>
            <a:r>
              <a:rPr lang="en-US" sz="2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e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ijtw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1298448"/>
            <a:ext cx="731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(2.1)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50592"/>
            <a:ext cx="54406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i, j, t, w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child · municipality · birth cohort · survey wave (2012, 2017)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Affected</a:t>
            </a:r>
            <a:pPr algn="l" indent="0" marL="0">
              <a:spcAft>
                <a:spcPts val="700"/>
              </a:spcAft>
              <a:buNone/>
            </a:pPr>
            <a:r>
              <a:rPr lang="en-US" sz="1200" b="1" i="1" baseline="-40000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1 if child i of cohort t was conceived before 27-F — between in utero and age 5 at impact (exposed cohorts vs. cohorts conceived after)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Mercalli</a:t>
            </a:r>
            <a:pPr algn="l" indent="0" marL="0">
              <a:spcAft>
                <a:spcPts val="700"/>
              </a:spcAft>
              <a:buNone/>
            </a:pPr>
            <a:r>
              <a:rPr lang="en-US" sz="1200" b="1" i="1" baseline="-40000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modified Mercalli intensity of municipality j (Astroza et al. 2010: housing damage conditional on construction type; robustness: USGS peak ground acceleration)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l" indent="0" marL="0">
              <a:spcAft>
                <a:spcPts val="700"/>
              </a:spcAft>
              <a:buNone/>
            </a:pPr>
            <a:r>
              <a:rPr lang="en-US" sz="1200" b="1" i="1" baseline="-40000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ijt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child, mother &amp; household controls, incl. pre-earthquake characteristics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91072" y="2450592"/>
            <a:ext cx="54406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pPr algn="l" indent="0" marL="0">
              <a:spcAft>
                <a:spcPts val="700"/>
              </a:spcAft>
              <a:buNone/>
            </a:pPr>
            <a:r>
              <a:rPr lang="en-US" sz="1200" b="1" i="1" baseline="-40000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municipality fixed effects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algn="l" indent="0" marL="0">
              <a:spcAft>
                <a:spcPts val="700"/>
              </a:spcAft>
              <a:buNone/>
            </a:pPr>
            <a:r>
              <a:rPr lang="en-US" sz="1200" b="1" i="1" baseline="-40000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birth-cohort fixed effects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pPr algn="l" indent="0" marL="0">
              <a:spcAft>
                <a:spcPts val="700"/>
              </a:spcAft>
              <a:buNone/>
            </a:pPr>
            <a:r>
              <a:rPr lang="en-US" sz="1200" b="1" i="1" baseline="-40000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survey-wave fixed effects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pPr algn="l" indent="0" marL="0">
              <a:spcAft>
                <a:spcPts val="700"/>
              </a:spcAft>
              <a:buNone/>
            </a:pPr>
            <a:r>
              <a:rPr lang="en-US" sz="1200" b="1" i="1" baseline="-40000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jt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municipality-specific linear trends — allow stable differential trends in development across municipalities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pPr algn="l" indent="0" marL="0">
              <a:spcAft>
                <a:spcPts val="700"/>
              </a:spcAft>
              <a:buNone/>
            </a:pPr>
            <a:r>
              <a:rPr lang="en-US" sz="1200" b="1" i="1" baseline="-40000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ijtw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error term; standard errors clustered at the municipality level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681728"/>
            <a:ext cx="6675120" cy="1572768"/>
          </a:xfrm>
          <a:prstGeom prst="roundRect">
            <a:avLst>
              <a:gd name="adj" fmla="val 4070"/>
            </a:avLst>
          </a:prstGeom>
          <a:solidFill>
            <a:srgbClr val="1E3D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828032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Identification.  </a:t>
            </a:r>
            <a:pPr algn="l" indent="0" marL="0">
              <a:lnSpc>
                <a:spcPct val="112000"/>
              </a:lnSpc>
              <a:buNone/>
            </a:pPr>
            <a:r>
              <a:rPr lang="en-US" sz="1100" b="1" i="1" dirty="0">
                <a:solidFill>
                  <a:srgbClr val="FF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intention-to-treat: effect of one additional Mercalli unit on exposed cohorts. Assumption: absent 27-F, exposed cohorts would have trended like post-earthquake cohorts within each municipality (parallel trends conditional on λ</a:t>
            </a:r>
            <a:pPr algn="l" indent="0" marL="0">
              <a:lnSpc>
                <a:spcPct val="112000"/>
              </a:lnSpc>
              <a:buNone/>
            </a:pPr>
            <a:r>
              <a:rPr lang="en-US" sz="1100" i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Post-quake conceptions may be indirectly exposed (stress, income) → </a:t>
            </a:r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is a lower bound.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0920" y="4681728"/>
            <a:ext cx="4370832" cy="1572768"/>
          </a:xfrm>
          <a:prstGeom prst="roundRect">
            <a:avLst>
              <a:gd name="adj" fmla="val 4070"/>
            </a:avLst>
          </a:prstGeom>
          <a:solidFill>
            <a:srgbClr val="F4F4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0" y="4809744"/>
            <a:ext cx="39776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addressed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 on post-quake cohorts: null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between waves 0.78% (affected → unaffected: 0.02%)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Fertility, planned births &amp; sex ratio: null in vital records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 uncorrelated with intensity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Eq. (2.1) as in Gillmore, UT Austin dissertation (2023), ch. 2; SSRN WP 5106675 (2025); Economics of Education Review (2026). The published version defines exposure as prenatal to age 4. Outcomes: TVIP/Peabody, Battelle, CBCL.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ELPI and the 27-F design</dc:title>
  <dc:subject>PptxGenJS Presentation</dc:subject>
  <dc:creator>ELPI project</dc:creator>
  <cp:lastModifiedBy>ELPI project</cp:lastModifiedBy>
  <cp:revision>1</cp:revision>
  <dcterms:created xsi:type="dcterms:W3CDTF">2026-09-21T10:30:41Z</dcterms:created>
  <dcterms:modified xsi:type="dcterms:W3CDTF">2026-09-21T10:30:41Z</dcterms:modified>
</cp:coreProperties>
</file>